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6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0" r:id="rId3"/>
    <p:sldId id="263" r:id="rId4"/>
    <p:sldId id="265" r:id="rId5"/>
    <p:sldId id="266" r:id="rId6"/>
    <p:sldId id="267" r:id="rId7"/>
    <p:sldId id="269" r:id="rId8"/>
    <p:sldId id="270" r:id="rId9"/>
    <p:sldId id="271" r:id="rId10"/>
    <p:sldId id="272" r:id="rId11"/>
    <p:sldId id="284" r:id="rId12"/>
    <p:sldId id="285" r:id="rId13"/>
    <p:sldId id="273" r:id="rId14"/>
    <p:sldId id="274" r:id="rId15"/>
    <p:sldId id="275" r:id="rId16"/>
    <p:sldId id="287" r:id="rId17"/>
    <p:sldId id="288" r:id="rId18"/>
    <p:sldId id="276" r:id="rId19"/>
    <p:sldId id="277" r:id="rId20"/>
    <p:sldId id="278" r:id="rId21"/>
    <p:sldId id="290" r:id="rId22"/>
    <p:sldId id="279" r:id="rId23"/>
    <p:sldId id="291" r:id="rId24"/>
    <p:sldId id="281" r:id="rId25"/>
    <p:sldId id="283" r:id="rId26"/>
  </p:sldIdLst>
  <p:sldSz cx="16256000" cy="9144000"/>
  <p:notesSz cx="9144000" cy="16256000"/>
  <p:embeddedFontLst>
    <p:embeddedFont>
      <p:font typeface="Liter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9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Value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Hours Studied</c:v>
                </c:pt>
                <c:pt idx="1">
                  <c:v>Attendance</c:v>
                </c:pt>
                <c:pt idx="2">
                  <c:v>Sleep Hours</c:v>
                </c:pt>
                <c:pt idx="3">
                  <c:v>Previous Scores</c:v>
                </c:pt>
                <c:pt idx="4">
                  <c:v>Tutoring Sessions</c:v>
                </c:pt>
                <c:pt idx="5">
                  <c:v>Physical Activity</c:v>
                </c:pt>
                <c:pt idx="6">
                  <c:v>Exam Score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19.98</c:v>
                </c:pt>
                <c:pt idx="1">
                  <c:v>79.98</c:v>
                </c:pt>
                <c:pt idx="2">
                  <c:v>7.03</c:v>
                </c:pt>
                <c:pt idx="3">
                  <c:v>75.069999999999993</c:v>
                </c:pt>
                <c:pt idx="4">
                  <c:v>1.49</c:v>
                </c:pt>
                <c:pt idx="5">
                  <c:v>2.97</c:v>
                </c:pt>
                <c:pt idx="6">
                  <c:v>67.239999999999995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63-4FEC-BD31-106BD90CE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8F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8D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C3-4207-A75D-562A13BE89A3}"/>
              </c:ext>
            </c:extLst>
          </c:dPt>
          <c:dPt>
            <c:idx val="1"/>
            <c:bubble3D val="0"/>
            <c:spPr>
              <a:solidFill>
                <a:srgbClr val="E07B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C3-4207-A75D-562A13BE89A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C3-4207-A75D-562A13BE89A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C3-4207-A75D-562A13BE89A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3814</c:v>
                </c:pt>
                <c:pt idx="1">
                  <c:v>2793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DC3-4207-A75D-562A13BE8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4E-4645-8F91-A91D1ECA3696}"/>
              </c:ext>
            </c:extLst>
          </c:dPt>
          <c:dPt>
            <c:idx val="1"/>
            <c:bubble3D val="0"/>
            <c:spPr>
              <a:solidFill>
                <a:srgbClr val="6A9B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4E-4645-8F91-A91D1ECA369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44E-4645-8F91-A91D1ECA369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44E-4645-8F91-A91D1ECA369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Public</c:v>
                </c:pt>
                <c:pt idx="1">
                  <c:v>Private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4598</c:v>
                </c:pt>
                <c:pt idx="1">
                  <c:v>2009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4E-4645-8F91-A91D1ECA36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07B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1319</c:v>
                </c:pt>
                <c:pt idx="1">
                  <c:v>3351</c:v>
                </c:pt>
                <c:pt idx="2">
                  <c:v>1937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46-4002-9451-C247C70ABD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8F5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8D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50-55</c:v>
                </c:pt>
                <c:pt idx="1">
                  <c:v>55-60</c:v>
                </c:pt>
                <c:pt idx="2">
                  <c:v>60-65</c:v>
                </c:pt>
                <c:pt idx="3">
                  <c:v>65-70</c:v>
                </c:pt>
                <c:pt idx="4">
                  <c:v>70-75</c:v>
                </c:pt>
                <c:pt idx="5">
                  <c:v>75-80</c:v>
                </c:pt>
                <c:pt idx="6">
                  <c:v>80-85</c:v>
                </c:pt>
                <c:pt idx="7">
                  <c:v>85+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</c:v>
                </c:pt>
                <c:pt idx="1">
                  <c:v>380</c:v>
                </c:pt>
                <c:pt idx="2">
                  <c:v>890</c:v>
                </c:pt>
                <c:pt idx="3">
                  <c:v>2150</c:v>
                </c:pt>
                <c:pt idx="4">
                  <c:v>1680</c:v>
                </c:pt>
                <c:pt idx="5">
                  <c:v>720</c:v>
                </c:pt>
                <c:pt idx="6">
                  <c:v>310</c:v>
                </c:pt>
                <c:pt idx="7">
                  <c:v>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87-44A1-83FF-5C799318A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3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Exam Score Range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8F5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Frequency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8D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</c:v>
                </c:pt>
              </c:strCache>
            </c:strRef>
          </c:tx>
          <c:spPr>
            <a:solidFill>
              <a:srgbClr val="E07B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Physical Activity</c:v>
                </c:pt>
                <c:pt idx="1">
                  <c:v>Previous Scores</c:v>
                </c:pt>
                <c:pt idx="2">
                  <c:v>Attendance</c:v>
                </c:pt>
                <c:pt idx="3">
                  <c:v>Hours Studied</c:v>
                </c:pt>
                <c:pt idx="4">
                  <c:v>Tutoring Sessions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1.19</c:v>
                </c:pt>
                <c:pt idx="1">
                  <c:v>1.06</c:v>
                </c:pt>
                <c:pt idx="2">
                  <c:v>1.27</c:v>
                </c:pt>
                <c:pt idx="3">
                  <c:v>1.42</c:v>
                </c:pt>
                <c:pt idx="4">
                  <c:v>1.82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3-4367-A7CE-146EC76281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  <c:min val="1"/>
        </c:scaling>
        <c:delete val="0"/>
        <c:axPos val="l"/>
        <c:majorGridlines>
          <c:spPr>
            <a:ln w="12700" cap="flat">
              <a:solidFill>
                <a:srgbClr val="D9E8F5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D8D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33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CABD-6CCA-A7DD-BB3E-039CE9E1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1BE52-ED4C-1F78-D099-2290C3287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EE70B-F66D-5CB5-B8DF-BF6DBC300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49D92-130D-A8A5-B1EA-8F8AA1863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35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2C8E-1808-0BB8-BEED-1CBCEAF5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30785-F383-7F28-A107-1562ED720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05952-8092-CE95-D7D6-D888C4771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0D336-F2AF-7433-AB01-5FFC73EA1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2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9020-D360-C3A8-E31E-6D7ECC67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805AD-9843-54BD-9F77-396485448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3689A-1626-0FE7-78A7-83536CD53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6CF34-C598-32B4-A1FF-C146B772B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13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15AC-357D-F0F4-FC14-70C8AF8BD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A1B1F-87DB-3EB5-6C26-C7381633E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17DEE-D2E5-934F-9BA9-4900506CD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E64CD-7864-C89A-2443-91B936E1C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49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A593-A9AD-49D3-AE89-4CF0E296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883D9-7FFB-F757-DE2E-E38B33EA2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06382-B1E6-3241-1349-8CB4B9FFA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5A3AE-101D-7DC0-7409-BA8E101F6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47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77CD-97C1-F52D-2D0A-A85E6887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CADBE-9F85-D2B2-5843-D73E40E1A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53E91-BED1-E2D0-419E-434E2BBF5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967DD-189B-00A6-6941-26B84325D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647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68000" y="0"/>
            <a:ext cx="5588000" cy="9144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16000" y="1270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kern="0" spc="1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Data Mining | Predictive Analytics | R Programming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2133600"/>
            <a:ext cx="838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5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Performance Analytics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1016000" y="4038600"/>
            <a:ext cx="838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6A9B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Data-Driven Study Using R Programming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4953000"/>
            <a:ext cx="2286000" cy="0"/>
          </a:xfrm>
          <a:prstGeom prst="straightConnector1">
            <a:avLst/>
          </a:prstGeom>
          <a:noFill/>
          <a:ln w="31750">
            <a:solidFill>
              <a:srgbClr val="E07B5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52832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Report Presentation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Dataset: 6,607 Students | 20 Variables | R Statistical Software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22000" y="82677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PERFORMANCE ANALYTICS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F5E2E38-92E7-543C-7E2B-FCD956665E53}"/>
              </a:ext>
            </a:extLst>
          </p:cNvPr>
          <p:cNvSpPr/>
          <p:nvPr/>
        </p:nvSpPr>
        <p:spPr>
          <a:xfrm>
            <a:off x="1011644" y="6594569"/>
            <a:ext cx="838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6A9B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by: Bibi Pari Gul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Statement, Objectives, and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143000"/>
            <a:ext cx="7061200" cy="236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2000" y="1143000"/>
            <a:ext cx="70612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6800" y="147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51000" y="14224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057400"/>
            <a:ext cx="650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institutions struggle to identify the major factors influencing student performance and lack data-driven intervention strategies.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32800" y="11430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32800" y="1143000"/>
            <a:ext cx="7061200" cy="508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7600" y="147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6204" y="28813"/>
                </a:moveTo>
                <a:cubicBezTo>
                  <a:pt x="114856" y="34846"/>
                  <a:pt x="116919" y="46752"/>
                  <a:pt x="110887" y="55324"/>
                </a:cubicBezTo>
                <a:lnTo>
                  <a:pt x="66437" y="118824"/>
                </a:lnTo>
                <a:cubicBezTo>
                  <a:pt x="63183" y="123428"/>
                  <a:pt x="58103" y="126365"/>
                  <a:pt x="52467" y="126841"/>
                </a:cubicBezTo>
                <a:cubicBezTo>
                  <a:pt x="46831" y="127317"/>
                  <a:pt x="41275" y="125413"/>
                  <a:pt x="37306" y="121444"/>
                </a:cubicBezTo>
                <a:lnTo>
                  <a:pt x="5556" y="89694"/>
                </a:lnTo>
                <a:cubicBezTo>
                  <a:pt x="-1826" y="82233"/>
                  <a:pt x="-1826" y="70168"/>
                  <a:pt x="5556" y="62706"/>
                </a:cubicBezTo>
                <a:cubicBezTo>
                  <a:pt x="12938" y="55245"/>
                  <a:pt x="25083" y="55324"/>
                  <a:pt x="32544" y="62706"/>
                </a:cubicBezTo>
                <a:lnTo>
                  <a:pt x="48260" y="78423"/>
                </a:lnTo>
                <a:lnTo>
                  <a:pt x="79693" y="33496"/>
                </a:lnTo>
                <a:cubicBezTo>
                  <a:pt x="85725" y="24844"/>
                  <a:pt x="97631" y="22781"/>
                  <a:pt x="106204" y="28813"/>
                </a:cubicBezTo>
                <a:close/>
                <a:moveTo>
                  <a:pt x="106204" y="155813"/>
                </a:moveTo>
                <a:cubicBezTo>
                  <a:pt x="114856" y="161846"/>
                  <a:pt x="116919" y="173752"/>
                  <a:pt x="110887" y="182324"/>
                </a:cubicBezTo>
                <a:lnTo>
                  <a:pt x="66437" y="245824"/>
                </a:lnTo>
                <a:cubicBezTo>
                  <a:pt x="63183" y="250428"/>
                  <a:pt x="58103" y="253365"/>
                  <a:pt x="52467" y="253841"/>
                </a:cubicBezTo>
                <a:cubicBezTo>
                  <a:pt x="46831" y="254318"/>
                  <a:pt x="41275" y="252413"/>
                  <a:pt x="37306" y="248444"/>
                </a:cubicBezTo>
                <a:lnTo>
                  <a:pt x="5556" y="216694"/>
                </a:lnTo>
                <a:cubicBezTo>
                  <a:pt x="-1905" y="209233"/>
                  <a:pt x="-1905" y="197168"/>
                  <a:pt x="5556" y="189786"/>
                </a:cubicBezTo>
                <a:cubicBezTo>
                  <a:pt x="13017" y="182404"/>
                  <a:pt x="25083" y="182324"/>
                  <a:pt x="32464" y="189786"/>
                </a:cubicBezTo>
                <a:lnTo>
                  <a:pt x="48181" y="205502"/>
                </a:lnTo>
                <a:lnTo>
                  <a:pt x="79613" y="160576"/>
                </a:lnTo>
                <a:cubicBezTo>
                  <a:pt x="85646" y="151924"/>
                  <a:pt x="97552" y="149860"/>
                  <a:pt x="106124" y="155892"/>
                </a:cubicBezTo>
                <a:close/>
                <a:moveTo>
                  <a:pt x="177800" y="76200"/>
                </a:moveTo>
                <a:cubicBezTo>
                  <a:pt x="177800" y="62151"/>
                  <a:pt x="189151" y="50800"/>
                  <a:pt x="203200" y="50800"/>
                </a:cubicBez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203200" y="101600"/>
                </a:lnTo>
                <a:cubicBezTo>
                  <a:pt x="189151" y="101600"/>
                  <a:pt x="177800" y="90249"/>
                  <a:pt x="177800" y="76200"/>
                </a:cubicBezTo>
                <a:close/>
                <a:moveTo>
                  <a:pt x="177800" y="203200"/>
                </a:moveTo>
                <a:cubicBezTo>
                  <a:pt x="177800" y="189151"/>
                  <a:pt x="189151" y="177800"/>
                  <a:pt x="203200" y="177800"/>
                </a:cubicBez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203200" y="228600"/>
                </a:lnTo>
                <a:cubicBezTo>
                  <a:pt x="189151" y="228600"/>
                  <a:pt x="177800" y="217249"/>
                  <a:pt x="177800" y="203200"/>
                </a:cubicBezTo>
                <a:close/>
                <a:moveTo>
                  <a:pt x="127000" y="330200"/>
                </a:moveTo>
                <a:cubicBezTo>
                  <a:pt x="127000" y="316151"/>
                  <a:pt x="138351" y="304800"/>
                  <a:pt x="152400" y="304800"/>
                </a:cubicBez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52400" y="355600"/>
                </a:lnTo>
                <a:cubicBezTo>
                  <a:pt x="138351" y="355600"/>
                  <a:pt x="127000" y="344249"/>
                  <a:pt x="127000" y="330200"/>
                </a:cubicBezTo>
                <a:close/>
                <a:moveTo>
                  <a:pt x="50800" y="298450"/>
                </a:moveTo>
                <a:cubicBezTo>
                  <a:pt x="68323" y="298450"/>
                  <a:pt x="82550" y="312677"/>
                  <a:pt x="82550" y="330200"/>
                </a:cubicBezTo>
                <a:cubicBezTo>
                  <a:pt x="82550" y="347723"/>
                  <a:pt x="68323" y="361950"/>
                  <a:pt x="50800" y="361950"/>
                </a:cubicBezTo>
                <a:cubicBezTo>
                  <a:pt x="33277" y="361950"/>
                  <a:pt x="19050" y="347723"/>
                  <a:pt x="19050" y="330200"/>
                </a:cubicBezTo>
                <a:cubicBezTo>
                  <a:pt x="19050" y="312677"/>
                  <a:pt x="33277" y="298450"/>
                  <a:pt x="50800" y="298450"/>
                </a:cubicBez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1800" y="14224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Objectives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7600" y="2057400"/>
            <a:ext cx="650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Perform exploratory data analysis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Identify significant correlations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Build regression models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Predict pass/fail outcomes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Classify students using clustering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683000"/>
            <a:ext cx="7061200" cy="3429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2000" y="3683000"/>
            <a:ext cx="7061200" cy="508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41400" y="4013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-12700"/>
                </a:moveTo>
                <a:cubicBezTo>
                  <a:pt x="242649" y="-12700"/>
                  <a:pt x="254000" y="-1349"/>
                  <a:pt x="254000" y="12700"/>
                </a:cubicBezTo>
                <a:lnTo>
                  <a:pt x="254000" y="27226"/>
                </a:lnTo>
                <a:cubicBezTo>
                  <a:pt x="331867" y="38338"/>
                  <a:pt x="393462" y="99933"/>
                  <a:pt x="404574" y="177800"/>
                </a:cubicBezTo>
                <a:lnTo>
                  <a:pt x="419100" y="177800"/>
                </a:lnTo>
                <a:cubicBezTo>
                  <a:pt x="433149" y="177800"/>
                  <a:pt x="444500" y="189151"/>
                  <a:pt x="444500" y="203200"/>
                </a:cubicBezTo>
                <a:cubicBezTo>
                  <a:pt x="444500" y="217249"/>
                  <a:pt x="433149" y="228600"/>
                  <a:pt x="419100" y="228600"/>
                </a:cubicBezTo>
                <a:lnTo>
                  <a:pt x="404574" y="228600"/>
                </a:lnTo>
                <a:cubicBezTo>
                  <a:pt x="393462" y="306467"/>
                  <a:pt x="331867" y="368062"/>
                  <a:pt x="254000" y="379174"/>
                </a:cubicBezTo>
                <a:lnTo>
                  <a:pt x="254000" y="393700"/>
                </a:lnTo>
                <a:cubicBezTo>
                  <a:pt x="254000" y="407749"/>
                  <a:pt x="242649" y="419100"/>
                  <a:pt x="228600" y="419100"/>
                </a:cubicBezTo>
                <a:cubicBezTo>
                  <a:pt x="214551" y="419100"/>
                  <a:pt x="203200" y="407749"/>
                  <a:pt x="203200" y="393700"/>
                </a:cubicBezTo>
                <a:lnTo>
                  <a:pt x="203200" y="379174"/>
                </a:lnTo>
                <a:cubicBezTo>
                  <a:pt x="125333" y="368062"/>
                  <a:pt x="63738" y="306467"/>
                  <a:pt x="52626" y="228600"/>
                </a:cubicBezTo>
                <a:lnTo>
                  <a:pt x="38100" y="228600"/>
                </a:lnTo>
                <a:cubicBezTo>
                  <a:pt x="24051" y="228600"/>
                  <a:pt x="12700" y="217249"/>
                  <a:pt x="12700" y="203200"/>
                </a:cubicBezTo>
                <a:cubicBezTo>
                  <a:pt x="12700" y="189151"/>
                  <a:pt x="24051" y="177800"/>
                  <a:pt x="38100" y="177800"/>
                </a:cubicBezTo>
                <a:lnTo>
                  <a:pt x="52626" y="177800"/>
                </a:lnTo>
                <a:cubicBezTo>
                  <a:pt x="63738" y="99933"/>
                  <a:pt x="125333" y="38338"/>
                  <a:pt x="203200" y="27226"/>
                </a:cubicBezTo>
                <a:lnTo>
                  <a:pt x="203200" y="12700"/>
                </a:lnTo>
                <a:cubicBezTo>
                  <a:pt x="203200" y="-1349"/>
                  <a:pt x="214551" y="-12700"/>
                  <a:pt x="228600" y="-12700"/>
                </a:cubicBezTo>
                <a:close/>
                <a:moveTo>
                  <a:pt x="104140" y="228600"/>
                </a:moveTo>
                <a:cubicBezTo>
                  <a:pt x="114221" y="278368"/>
                  <a:pt x="153432" y="317579"/>
                  <a:pt x="203200" y="327660"/>
                </a:cubicBezTo>
                <a:lnTo>
                  <a:pt x="203200" y="317500"/>
                </a:lnTo>
                <a:cubicBezTo>
                  <a:pt x="203200" y="303451"/>
                  <a:pt x="214551" y="292100"/>
                  <a:pt x="228600" y="292100"/>
                </a:cubicBezTo>
                <a:cubicBezTo>
                  <a:pt x="242649" y="292100"/>
                  <a:pt x="254000" y="303451"/>
                  <a:pt x="254000" y="317500"/>
                </a:cubicBezTo>
                <a:lnTo>
                  <a:pt x="254000" y="327660"/>
                </a:lnTo>
                <a:cubicBezTo>
                  <a:pt x="303768" y="317579"/>
                  <a:pt x="342979" y="278368"/>
                  <a:pt x="353060" y="228600"/>
                </a:cubicBezTo>
                <a:lnTo>
                  <a:pt x="342900" y="228600"/>
                </a:lnTo>
                <a:cubicBezTo>
                  <a:pt x="328851" y="228600"/>
                  <a:pt x="317500" y="217249"/>
                  <a:pt x="317500" y="203200"/>
                </a:cubicBezTo>
                <a:cubicBezTo>
                  <a:pt x="317500" y="189151"/>
                  <a:pt x="328851" y="177800"/>
                  <a:pt x="342900" y="177800"/>
                </a:cubicBezTo>
                <a:lnTo>
                  <a:pt x="353060" y="177800"/>
                </a:lnTo>
                <a:cubicBezTo>
                  <a:pt x="342979" y="128032"/>
                  <a:pt x="303768" y="88821"/>
                  <a:pt x="254000" y="78740"/>
                </a:cubicBezTo>
                <a:lnTo>
                  <a:pt x="254000" y="88900"/>
                </a:lnTo>
                <a:cubicBezTo>
                  <a:pt x="254000" y="102949"/>
                  <a:pt x="242649" y="114300"/>
                  <a:pt x="228600" y="114300"/>
                </a:cubicBezTo>
                <a:cubicBezTo>
                  <a:pt x="214551" y="114300"/>
                  <a:pt x="203200" y="102949"/>
                  <a:pt x="203200" y="88900"/>
                </a:cubicBezTo>
                <a:lnTo>
                  <a:pt x="203200" y="78740"/>
                </a:lnTo>
                <a:cubicBezTo>
                  <a:pt x="153432" y="88821"/>
                  <a:pt x="114221" y="128032"/>
                  <a:pt x="104140" y="177800"/>
                </a:cubicBezTo>
                <a:lnTo>
                  <a:pt x="114300" y="177800"/>
                </a:lnTo>
                <a:cubicBezTo>
                  <a:pt x="128349" y="177800"/>
                  <a:pt x="139700" y="189151"/>
                  <a:pt x="139700" y="203200"/>
                </a:cubicBezTo>
                <a:cubicBezTo>
                  <a:pt x="139700" y="217249"/>
                  <a:pt x="128349" y="228600"/>
                  <a:pt x="114300" y="228600"/>
                </a:cubicBezTo>
                <a:lnTo>
                  <a:pt x="104140" y="228600"/>
                </a:lnTo>
                <a:close/>
                <a:moveTo>
                  <a:pt x="228600" y="165100"/>
                </a:moveTo>
                <a:cubicBezTo>
                  <a:pt x="249628" y="165100"/>
                  <a:pt x="266700" y="182172"/>
                  <a:pt x="266700" y="203200"/>
                </a:cubicBezTo>
                <a:cubicBezTo>
                  <a:pt x="266700" y="224228"/>
                  <a:pt x="249628" y="241300"/>
                  <a:pt x="228600" y="241300"/>
                </a:cubicBezTo>
                <a:cubicBezTo>
                  <a:pt x="207572" y="241300"/>
                  <a:pt x="190500" y="224228"/>
                  <a:pt x="190500" y="203200"/>
                </a:cubicBezTo>
                <a:cubicBezTo>
                  <a:pt x="190500" y="182172"/>
                  <a:pt x="207572" y="165100"/>
                  <a:pt x="228600" y="165100"/>
                </a:cubicBez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51000" y="39624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Scope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" y="4597400"/>
            <a:ext cx="650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6,607 students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 (7 numerical, 13 categorical)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 Programming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Cleaned: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6,378 observations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32800" y="5080000"/>
            <a:ext cx="7061200" cy="2032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37600" y="5283200"/>
            <a:ext cx="650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Framework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37600" y="5842000"/>
            <a:ext cx="6502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Collection → Cleaning → EDA → Modeling → Evaluation → Recommendations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2200" y="11176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Statistics: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Summarize and describe dataset characteristics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235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2200" y="20828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Analysis: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Measure relationships between variables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2004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2200" y="3048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Regression: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 continuous outcome predictions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1656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2200" y="40132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Regression: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Predict binary outcomes (pass/fail)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8768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2200" y="47752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Analysis: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Identify natural student groupings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588000"/>
            <a:ext cx="6934200" cy="1270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6000" y="5715000"/>
            <a:ext cx="6426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Regression predicts outcomes, clustering identifies groups, and classification improves interventions.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36000" y="1143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40800" y="1333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50800"/>
                </a:lnTo>
                <a:cubicBezTo>
                  <a:pt x="304800" y="22781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76200" y="50800"/>
                </a:moveTo>
                <a:lnTo>
                  <a:pt x="228600" y="50800"/>
                </a:lnTo>
                <a:cubicBezTo>
                  <a:pt x="242649" y="50800"/>
                  <a:pt x="254000" y="62151"/>
                  <a:pt x="254000" y="762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76200" y="127000"/>
                </a:lnTo>
                <a:cubicBezTo>
                  <a:pt x="62151" y="127000"/>
                  <a:pt x="50800" y="115649"/>
                  <a:pt x="50800" y="101600"/>
                </a:cubicBezTo>
                <a:lnTo>
                  <a:pt x="50800" y="76200"/>
                </a:lnTo>
                <a:cubicBezTo>
                  <a:pt x="50800" y="62151"/>
                  <a:pt x="62151" y="50800"/>
                  <a:pt x="76200" y="50800"/>
                </a:cubicBezTo>
                <a:close/>
                <a:moveTo>
                  <a:pt x="88900" y="184150"/>
                </a:moveTo>
                <a:cubicBezTo>
                  <a:pt x="88900" y="194664"/>
                  <a:pt x="80364" y="203200"/>
                  <a:pt x="69850" y="203200"/>
                </a:cubicBezTo>
                <a:cubicBezTo>
                  <a:pt x="59336" y="203200"/>
                  <a:pt x="50800" y="194664"/>
                  <a:pt x="50800" y="184150"/>
                </a:cubicBezTo>
                <a:cubicBezTo>
                  <a:pt x="50800" y="173636"/>
                  <a:pt x="59336" y="165100"/>
                  <a:pt x="69850" y="165100"/>
                </a:cubicBezTo>
                <a:cubicBezTo>
                  <a:pt x="80364" y="165100"/>
                  <a:pt x="88900" y="173636"/>
                  <a:pt x="88900" y="184150"/>
                </a:cubicBezTo>
                <a:close/>
                <a:moveTo>
                  <a:pt x="152400" y="203200"/>
                </a:moveTo>
                <a:cubicBezTo>
                  <a:pt x="141886" y="203200"/>
                  <a:pt x="133350" y="194664"/>
                  <a:pt x="133350" y="184150"/>
                </a:cubicBezTo>
                <a:cubicBezTo>
                  <a:pt x="133350" y="173636"/>
                  <a:pt x="141886" y="165100"/>
                  <a:pt x="152400" y="165100"/>
                </a:cubicBezTo>
                <a:cubicBezTo>
                  <a:pt x="162914" y="165100"/>
                  <a:pt x="171450" y="173636"/>
                  <a:pt x="171450" y="184150"/>
                </a:cubicBezTo>
                <a:cubicBezTo>
                  <a:pt x="171450" y="194664"/>
                  <a:pt x="162914" y="203200"/>
                  <a:pt x="152400" y="203200"/>
                </a:cubicBezTo>
                <a:close/>
                <a:moveTo>
                  <a:pt x="254000" y="184150"/>
                </a:moveTo>
                <a:cubicBezTo>
                  <a:pt x="254000" y="194664"/>
                  <a:pt x="245464" y="203200"/>
                  <a:pt x="234950" y="203200"/>
                </a:cubicBezTo>
                <a:cubicBezTo>
                  <a:pt x="224436" y="203200"/>
                  <a:pt x="215900" y="194664"/>
                  <a:pt x="215900" y="184150"/>
                </a:cubicBezTo>
                <a:cubicBezTo>
                  <a:pt x="215900" y="173636"/>
                  <a:pt x="224436" y="165100"/>
                  <a:pt x="234950" y="165100"/>
                </a:cubicBezTo>
                <a:cubicBezTo>
                  <a:pt x="245464" y="165100"/>
                  <a:pt x="254000" y="173636"/>
                  <a:pt x="254000" y="184150"/>
                </a:cubicBezTo>
                <a:close/>
                <a:moveTo>
                  <a:pt x="69850" y="279400"/>
                </a:moveTo>
                <a:cubicBezTo>
                  <a:pt x="59336" y="279400"/>
                  <a:pt x="50800" y="270864"/>
                  <a:pt x="50800" y="260350"/>
                </a:cubicBezTo>
                <a:cubicBezTo>
                  <a:pt x="50800" y="249836"/>
                  <a:pt x="59336" y="241300"/>
                  <a:pt x="69850" y="241300"/>
                </a:cubicBezTo>
                <a:cubicBezTo>
                  <a:pt x="80364" y="241300"/>
                  <a:pt x="88900" y="249836"/>
                  <a:pt x="88900" y="260350"/>
                </a:cubicBezTo>
                <a:cubicBezTo>
                  <a:pt x="88900" y="270864"/>
                  <a:pt x="80364" y="279400"/>
                  <a:pt x="69850" y="279400"/>
                </a:cubicBezTo>
                <a:close/>
                <a:moveTo>
                  <a:pt x="171450" y="260350"/>
                </a:moveTo>
                <a:cubicBezTo>
                  <a:pt x="171450" y="270864"/>
                  <a:pt x="162914" y="279400"/>
                  <a:pt x="152400" y="279400"/>
                </a:cubicBezTo>
                <a:cubicBezTo>
                  <a:pt x="141886" y="279400"/>
                  <a:pt x="133350" y="270864"/>
                  <a:pt x="133350" y="260350"/>
                </a:cubicBezTo>
                <a:cubicBezTo>
                  <a:pt x="133350" y="249836"/>
                  <a:pt x="141886" y="241300"/>
                  <a:pt x="152400" y="241300"/>
                </a:cubicBezTo>
                <a:cubicBezTo>
                  <a:pt x="162914" y="241300"/>
                  <a:pt x="171450" y="249836"/>
                  <a:pt x="171450" y="260350"/>
                </a:cubicBezTo>
                <a:close/>
                <a:moveTo>
                  <a:pt x="234950" y="279400"/>
                </a:moveTo>
                <a:cubicBezTo>
                  <a:pt x="224436" y="279400"/>
                  <a:pt x="215900" y="270864"/>
                  <a:pt x="215900" y="260350"/>
                </a:cubicBezTo>
                <a:cubicBezTo>
                  <a:pt x="215900" y="249836"/>
                  <a:pt x="224436" y="241300"/>
                  <a:pt x="234950" y="241300"/>
                </a:cubicBezTo>
                <a:cubicBezTo>
                  <a:pt x="245464" y="241300"/>
                  <a:pt x="254000" y="249836"/>
                  <a:pt x="254000" y="260350"/>
                </a:cubicBezTo>
                <a:cubicBezTo>
                  <a:pt x="254000" y="270864"/>
                  <a:pt x="245464" y="279400"/>
                  <a:pt x="234950" y="279400"/>
                </a:cubicBezTo>
                <a:close/>
                <a:moveTo>
                  <a:pt x="50800" y="336550"/>
                </a:moveTo>
                <a:cubicBezTo>
                  <a:pt x="50800" y="325993"/>
                  <a:pt x="59293" y="317500"/>
                  <a:pt x="69850" y="317500"/>
                </a:cubicBezTo>
                <a:lnTo>
                  <a:pt x="158750" y="317500"/>
                </a:lnTo>
                <a:cubicBezTo>
                  <a:pt x="169307" y="317500"/>
                  <a:pt x="177800" y="325993"/>
                  <a:pt x="177800" y="336550"/>
                </a:cubicBezTo>
                <a:cubicBezTo>
                  <a:pt x="177800" y="347107"/>
                  <a:pt x="169307" y="355600"/>
                  <a:pt x="158750" y="355600"/>
                </a:cubicBezTo>
                <a:lnTo>
                  <a:pt x="69850" y="355600"/>
                </a:lnTo>
                <a:cubicBezTo>
                  <a:pt x="59293" y="355600"/>
                  <a:pt x="50800" y="347107"/>
                  <a:pt x="50800" y="336550"/>
                </a:cubicBezTo>
                <a:close/>
                <a:moveTo>
                  <a:pt x="234950" y="317500"/>
                </a:moveTo>
                <a:cubicBezTo>
                  <a:pt x="245507" y="317500"/>
                  <a:pt x="254000" y="325993"/>
                  <a:pt x="254000" y="336550"/>
                </a:cubicBezTo>
                <a:cubicBezTo>
                  <a:pt x="254000" y="347107"/>
                  <a:pt x="245507" y="355600"/>
                  <a:pt x="234950" y="355600"/>
                </a:cubicBezTo>
                <a:cubicBezTo>
                  <a:pt x="224393" y="355600"/>
                  <a:pt x="215900" y="347107"/>
                  <a:pt x="215900" y="336550"/>
                </a:cubicBezTo>
                <a:cubicBezTo>
                  <a:pt x="215900" y="325993"/>
                  <a:pt x="224393" y="317500"/>
                  <a:pt x="234950" y="3175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98000" y="11430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Describe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39350" y="2133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36000" y="27686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90000" y="2959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82550" y="171450"/>
                </a:moveTo>
                <a:lnTo>
                  <a:pt x="82550" y="222250"/>
                </a:lnTo>
                <a:cubicBezTo>
                  <a:pt x="82550" y="232807"/>
                  <a:pt x="91043" y="241300"/>
                  <a:pt x="101600" y="241300"/>
                </a:cubicBezTo>
                <a:cubicBezTo>
                  <a:pt x="112157" y="241300"/>
                  <a:pt x="120650" y="232807"/>
                  <a:pt x="120650" y="222250"/>
                </a:cubicBezTo>
                <a:lnTo>
                  <a:pt x="120650" y="171450"/>
                </a:lnTo>
                <a:cubicBezTo>
                  <a:pt x="120650" y="160893"/>
                  <a:pt x="112157" y="152400"/>
                  <a:pt x="101600" y="152400"/>
                </a:cubicBezTo>
                <a:cubicBezTo>
                  <a:pt x="91043" y="152400"/>
                  <a:pt x="82550" y="160893"/>
                  <a:pt x="82550" y="171450"/>
                </a:cubicBezTo>
                <a:close/>
                <a:moveTo>
                  <a:pt x="146050" y="95250"/>
                </a:moveTo>
                <a:lnTo>
                  <a:pt x="146050" y="222250"/>
                </a:lnTo>
                <a:cubicBezTo>
                  <a:pt x="146050" y="232807"/>
                  <a:pt x="154543" y="241300"/>
                  <a:pt x="165100" y="241300"/>
                </a:cubicBezTo>
                <a:cubicBezTo>
                  <a:pt x="175657" y="241300"/>
                  <a:pt x="184150" y="232807"/>
                  <a:pt x="184150" y="222250"/>
                </a:cubicBezTo>
                <a:lnTo>
                  <a:pt x="184150" y="95250"/>
                </a:lnTo>
                <a:cubicBezTo>
                  <a:pt x="184150" y="84693"/>
                  <a:pt x="175657" y="76200"/>
                  <a:pt x="165100" y="76200"/>
                </a:cubicBezTo>
                <a:cubicBezTo>
                  <a:pt x="154543" y="76200"/>
                  <a:pt x="146050" y="84693"/>
                  <a:pt x="146050" y="95250"/>
                </a:cubicBezTo>
                <a:close/>
                <a:moveTo>
                  <a:pt x="209550" y="146050"/>
                </a:moveTo>
                <a:lnTo>
                  <a:pt x="209550" y="222250"/>
                </a:lnTo>
                <a:cubicBezTo>
                  <a:pt x="209550" y="232807"/>
                  <a:pt x="218043" y="241300"/>
                  <a:pt x="228600" y="241300"/>
                </a:cubicBezTo>
                <a:cubicBezTo>
                  <a:pt x="239157" y="241300"/>
                  <a:pt x="247650" y="232807"/>
                  <a:pt x="247650" y="222250"/>
                </a:cubicBezTo>
                <a:lnTo>
                  <a:pt x="247650" y="146050"/>
                </a:lnTo>
                <a:cubicBezTo>
                  <a:pt x="247650" y="135493"/>
                  <a:pt x="239157" y="127000"/>
                  <a:pt x="228600" y="127000"/>
                </a:cubicBezTo>
                <a:cubicBezTo>
                  <a:pt x="218043" y="127000"/>
                  <a:pt x="209550" y="135493"/>
                  <a:pt x="209550" y="1460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98000" y="27686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39350" y="3759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636000" y="43942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90000" y="45847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98000" y="43942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39350" y="5384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51269" y="448806"/>
                </a:moveTo>
                <a:cubicBezTo>
                  <a:pt x="162431" y="459968"/>
                  <a:pt x="180558" y="459968"/>
                  <a:pt x="191720" y="448806"/>
                </a:cubicBezTo>
                <a:lnTo>
                  <a:pt x="334595" y="305931"/>
                </a:lnTo>
                <a:cubicBezTo>
                  <a:pt x="345758" y="294769"/>
                  <a:pt x="345758" y="276642"/>
                  <a:pt x="334595" y="265480"/>
                </a:cubicBezTo>
                <a:cubicBezTo>
                  <a:pt x="323433" y="254318"/>
                  <a:pt x="305306" y="254318"/>
                  <a:pt x="294144" y="265480"/>
                </a:cubicBezTo>
                <a:lnTo>
                  <a:pt x="200025" y="359599"/>
                </a:lnTo>
                <a:lnTo>
                  <a:pt x="200025" y="28575"/>
                </a:lnTo>
                <a:cubicBezTo>
                  <a:pt x="200025" y="12769"/>
                  <a:pt x="187256" y="0"/>
                  <a:pt x="171450" y="0"/>
                </a:cubicBezTo>
                <a:cubicBezTo>
                  <a:pt x="155644" y="0"/>
                  <a:pt x="142875" y="12769"/>
                  <a:pt x="142875" y="28575"/>
                </a:cubicBezTo>
                <a:lnTo>
                  <a:pt x="142875" y="359599"/>
                </a:lnTo>
                <a:lnTo>
                  <a:pt x="48756" y="265480"/>
                </a:lnTo>
                <a:cubicBezTo>
                  <a:pt x="37594" y="254317"/>
                  <a:pt x="19467" y="254317"/>
                  <a:pt x="8305" y="265480"/>
                </a:cubicBezTo>
                <a:cubicBezTo>
                  <a:pt x="-2858" y="276642"/>
                  <a:pt x="-2858" y="294769"/>
                  <a:pt x="8305" y="305931"/>
                </a:cubicBezTo>
                <a:lnTo>
                  <a:pt x="151180" y="448806"/>
                </a:ln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36000" y="60198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64600" y="62103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400" y="94774"/>
                </a:moveTo>
                <a:cubicBezTo>
                  <a:pt x="10239" y="86043"/>
                  <a:pt x="0" y="69612"/>
                  <a:pt x="0" y="50800"/>
                </a:cubicBezTo>
                <a:cubicBezTo>
                  <a:pt x="0" y="22781"/>
                  <a:pt x="22781" y="0"/>
                  <a:pt x="50800" y="0"/>
                </a:cubicBezTo>
                <a:cubicBezTo>
                  <a:pt x="69612" y="0"/>
                  <a:pt x="86043" y="10239"/>
                  <a:pt x="94774" y="25400"/>
                </a:cubicBezTo>
                <a:lnTo>
                  <a:pt x="362347" y="25400"/>
                </a:lnTo>
                <a:cubicBezTo>
                  <a:pt x="371158" y="10239"/>
                  <a:pt x="387509" y="0"/>
                  <a:pt x="406321" y="0"/>
                </a:cubicBezTo>
                <a:cubicBezTo>
                  <a:pt x="434340" y="0"/>
                  <a:pt x="457121" y="22781"/>
                  <a:pt x="457121" y="50800"/>
                </a:cubicBezTo>
                <a:cubicBezTo>
                  <a:pt x="457121" y="69612"/>
                  <a:pt x="446881" y="86043"/>
                  <a:pt x="431721" y="94774"/>
                </a:cubicBezTo>
                <a:lnTo>
                  <a:pt x="431721" y="311547"/>
                </a:lnTo>
                <a:cubicBezTo>
                  <a:pt x="446881" y="320358"/>
                  <a:pt x="457121" y="336709"/>
                  <a:pt x="457121" y="355521"/>
                </a:cubicBezTo>
                <a:cubicBezTo>
                  <a:pt x="457121" y="383540"/>
                  <a:pt x="434340" y="406321"/>
                  <a:pt x="406321" y="406321"/>
                </a:cubicBezTo>
                <a:cubicBezTo>
                  <a:pt x="387509" y="406321"/>
                  <a:pt x="371078" y="396081"/>
                  <a:pt x="362347" y="380921"/>
                </a:cubicBezTo>
                <a:lnTo>
                  <a:pt x="94774" y="380921"/>
                </a:lnTo>
                <a:cubicBezTo>
                  <a:pt x="85963" y="396081"/>
                  <a:pt x="69612" y="406321"/>
                  <a:pt x="50800" y="406321"/>
                </a:cubicBezTo>
                <a:cubicBezTo>
                  <a:pt x="22781" y="406321"/>
                  <a:pt x="0" y="383540"/>
                  <a:pt x="0" y="355521"/>
                </a:cubicBezTo>
                <a:cubicBezTo>
                  <a:pt x="0" y="336709"/>
                  <a:pt x="10239" y="320278"/>
                  <a:pt x="25400" y="311547"/>
                </a:cubicBezTo>
                <a:lnTo>
                  <a:pt x="25400" y="94774"/>
                </a:lnTo>
                <a:close/>
                <a:moveTo>
                  <a:pt x="381000" y="94774"/>
                </a:moveTo>
                <a:cubicBezTo>
                  <a:pt x="373301" y="90329"/>
                  <a:pt x="366871" y="83899"/>
                  <a:pt x="362426" y="76200"/>
                </a:cubicBezTo>
                <a:lnTo>
                  <a:pt x="94774" y="76200"/>
                </a:lnTo>
                <a:cubicBezTo>
                  <a:pt x="90329" y="83899"/>
                  <a:pt x="83899" y="90329"/>
                  <a:pt x="76200" y="94774"/>
                </a:cubicBezTo>
                <a:lnTo>
                  <a:pt x="76200" y="311547"/>
                </a:lnTo>
                <a:cubicBezTo>
                  <a:pt x="83899" y="315992"/>
                  <a:pt x="90329" y="322421"/>
                  <a:pt x="94774" y="330121"/>
                </a:cubicBezTo>
                <a:lnTo>
                  <a:pt x="362347" y="330121"/>
                </a:lnTo>
                <a:cubicBezTo>
                  <a:pt x="366792" y="322421"/>
                  <a:pt x="373221" y="315992"/>
                  <a:pt x="380921" y="311547"/>
                </a:cubicBezTo>
                <a:lnTo>
                  <a:pt x="380921" y="94774"/>
                </a:lnTo>
                <a:close/>
                <a:moveTo>
                  <a:pt x="114300" y="139700"/>
                </a:moveTo>
                <a:cubicBezTo>
                  <a:pt x="114300" y="125651"/>
                  <a:pt x="125651" y="114300"/>
                  <a:pt x="139700" y="114300"/>
                </a:cubicBezTo>
                <a:lnTo>
                  <a:pt x="228600" y="114300"/>
                </a:lnTo>
                <a:cubicBezTo>
                  <a:pt x="242649" y="114300"/>
                  <a:pt x="254000" y="125651"/>
                  <a:pt x="254000" y="139700"/>
                </a:cubicBezTo>
                <a:lnTo>
                  <a:pt x="254000" y="190500"/>
                </a:lnTo>
                <a:cubicBezTo>
                  <a:pt x="254000" y="204549"/>
                  <a:pt x="242649" y="215900"/>
                  <a:pt x="228600" y="215900"/>
                </a:cubicBezTo>
                <a:lnTo>
                  <a:pt x="139700" y="215900"/>
                </a:lnTo>
                <a:cubicBezTo>
                  <a:pt x="125651" y="215900"/>
                  <a:pt x="114300" y="204549"/>
                  <a:pt x="114300" y="190500"/>
                </a:cubicBezTo>
                <a:lnTo>
                  <a:pt x="114300" y="139700"/>
                </a:lnTo>
                <a:close/>
                <a:moveTo>
                  <a:pt x="203200" y="254000"/>
                </a:moveTo>
                <a:lnTo>
                  <a:pt x="228600" y="254000"/>
                </a:lnTo>
                <a:cubicBezTo>
                  <a:pt x="263684" y="254000"/>
                  <a:pt x="292100" y="225584"/>
                  <a:pt x="292100" y="190500"/>
                </a:cubicBezTo>
                <a:lnTo>
                  <a:pt x="317500" y="190500"/>
                </a:lnTo>
                <a:cubicBezTo>
                  <a:pt x="331549" y="190500"/>
                  <a:pt x="342900" y="201851"/>
                  <a:pt x="342900" y="215900"/>
                </a:cubicBezTo>
                <a:lnTo>
                  <a:pt x="342900" y="266700"/>
                </a:lnTo>
                <a:cubicBezTo>
                  <a:pt x="342900" y="280749"/>
                  <a:pt x="331549" y="292100"/>
                  <a:pt x="317500" y="292100"/>
                </a:cubicBezTo>
                <a:lnTo>
                  <a:pt x="228600" y="292100"/>
                </a:lnTo>
                <a:cubicBezTo>
                  <a:pt x="214551" y="292100"/>
                  <a:pt x="203200" y="280749"/>
                  <a:pt x="203200" y="266700"/>
                </a:cubicBezTo>
                <a:lnTo>
                  <a:pt x="203200" y="2540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98000" y="6019800"/>
            <a:ext cx="228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0" y="133350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0" y="295910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192000" y="458470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models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192000" y="621030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analysis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30200" y="177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143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09825" y="1473200"/>
            <a:ext cx="793750" cy="635000"/>
          </a:xfrm>
          <a:custGeom>
            <a:avLst/>
            <a:gdLst/>
            <a:ahLst/>
            <a:cxnLst/>
            <a:rect l="l" t="t" r="r" b="b"/>
            <a:pathLst>
              <a:path w="793750" h="635000">
                <a:moveTo>
                  <a:pt x="396875" y="19844"/>
                </a:moveTo>
                <a:cubicBezTo>
                  <a:pt x="468063" y="19844"/>
                  <a:pt x="525859" y="77640"/>
                  <a:pt x="525859" y="148828"/>
                </a:cubicBezTo>
                <a:cubicBezTo>
                  <a:pt x="525859" y="220017"/>
                  <a:pt x="468063" y="277813"/>
                  <a:pt x="396875" y="277813"/>
                </a:cubicBezTo>
                <a:cubicBezTo>
                  <a:pt x="325687" y="277813"/>
                  <a:pt x="267891" y="220017"/>
                  <a:pt x="267891" y="148828"/>
                </a:cubicBezTo>
                <a:cubicBezTo>
                  <a:pt x="267891" y="77640"/>
                  <a:pt x="325687" y="19844"/>
                  <a:pt x="396875" y="19844"/>
                </a:cubicBezTo>
                <a:close/>
                <a:moveTo>
                  <a:pt x="119062" y="109141"/>
                </a:moveTo>
                <a:cubicBezTo>
                  <a:pt x="168347" y="109141"/>
                  <a:pt x="208359" y="149153"/>
                  <a:pt x="208359" y="198438"/>
                </a:cubicBezTo>
                <a:cubicBezTo>
                  <a:pt x="208359" y="247722"/>
                  <a:pt x="168347" y="287734"/>
                  <a:pt x="119062" y="287734"/>
                </a:cubicBezTo>
                <a:cubicBezTo>
                  <a:pt x="69778" y="287734"/>
                  <a:pt x="29766" y="247722"/>
                  <a:pt x="29766" y="198438"/>
                </a:cubicBezTo>
                <a:cubicBezTo>
                  <a:pt x="29766" y="149153"/>
                  <a:pt x="69778" y="109141"/>
                  <a:pt x="119062" y="109141"/>
                </a:cubicBezTo>
                <a:close/>
                <a:moveTo>
                  <a:pt x="0" y="515937"/>
                </a:moveTo>
                <a:cubicBezTo>
                  <a:pt x="0" y="428253"/>
                  <a:pt x="71065" y="357188"/>
                  <a:pt x="158750" y="357188"/>
                </a:cubicBezTo>
                <a:cubicBezTo>
                  <a:pt x="174625" y="357188"/>
                  <a:pt x="190004" y="359544"/>
                  <a:pt x="204515" y="363885"/>
                </a:cubicBezTo>
                <a:cubicBezTo>
                  <a:pt x="163711" y="409525"/>
                  <a:pt x="138906" y="469801"/>
                  <a:pt x="138906" y="535781"/>
                </a:cubicBezTo>
                <a:lnTo>
                  <a:pt x="138906" y="555625"/>
                </a:lnTo>
                <a:cubicBezTo>
                  <a:pt x="138906" y="569764"/>
                  <a:pt x="141883" y="583158"/>
                  <a:pt x="147216" y="595313"/>
                </a:cubicBezTo>
                <a:lnTo>
                  <a:pt x="39688" y="595313"/>
                </a:lnTo>
                <a:cubicBezTo>
                  <a:pt x="17735" y="595313"/>
                  <a:pt x="0" y="577577"/>
                  <a:pt x="0" y="555625"/>
                </a:cubicBezTo>
                <a:lnTo>
                  <a:pt x="0" y="515937"/>
                </a:lnTo>
                <a:close/>
                <a:moveTo>
                  <a:pt x="646534" y="595313"/>
                </a:moveTo>
                <a:cubicBezTo>
                  <a:pt x="651867" y="583158"/>
                  <a:pt x="654844" y="569764"/>
                  <a:pt x="654844" y="555625"/>
                </a:cubicBezTo>
                <a:lnTo>
                  <a:pt x="654844" y="535781"/>
                </a:lnTo>
                <a:cubicBezTo>
                  <a:pt x="654844" y="469801"/>
                  <a:pt x="630039" y="409525"/>
                  <a:pt x="589235" y="363885"/>
                </a:cubicBezTo>
                <a:cubicBezTo>
                  <a:pt x="603746" y="359544"/>
                  <a:pt x="619125" y="357188"/>
                  <a:pt x="635000" y="357188"/>
                </a:cubicBezTo>
                <a:cubicBezTo>
                  <a:pt x="722685" y="357188"/>
                  <a:pt x="793750" y="428253"/>
                  <a:pt x="793750" y="515937"/>
                </a:cubicBezTo>
                <a:lnTo>
                  <a:pt x="793750" y="555625"/>
                </a:lnTo>
                <a:cubicBezTo>
                  <a:pt x="793750" y="577577"/>
                  <a:pt x="776015" y="595313"/>
                  <a:pt x="754063" y="595313"/>
                </a:cubicBezTo>
                <a:lnTo>
                  <a:pt x="646534" y="595313"/>
                </a:lnTo>
                <a:close/>
                <a:moveTo>
                  <a:pt x="585391" y="198438"/>
                </a:moveTo>
                <a:cubicBezTo>
                  <a:pt x="585391" y="149153"/>
                  <a:pt x="625403" y="109141"/>
                  <a:pt x="674688" y="109141"/>
                </a:cubicBezTo>
                <a:cubicBezTo>
                  <a:pt x="723972" y="109141"/>
                  <a:pt x="763984" y="149153"/>
                  <a:pt x="763984" y="198437"/>
                </a:cubicBezTo>
                <a:cubicBezTo>
                  <a:pt x="763984" y="247722"/>
                  <a:pt x="723972" y="287734"/>
                  <a:pt x="674688" y="287734"/>
                </a:cubicBezTo>
                <a:cubicBezTo>
                  <a:pt x="625403" y="287734"/>
                  <a:pt x="585391" y="247722"/>
                  <a:pt x="585391" y="198438"/>
                </a:cubicBezTo>
                <a:close/>
                <a:moveTo>
                  <a:pt x="198438" y="535781"/>
                </a:moveTo>
                <a:cubicBezTo>
                  <a:pt x="198438" y="426145"/>
                  <a:pt x="287238" y="337344"/>
                  <a:pt x="396875" y="337344"/>
                </a:cubicBezTo>
                <a:cubicBezTo>
                  <a:pt x="506512" y="337344"/>
                  <a:pt x="595313" y="426145"/>
                  <a:pt x="595313" y="535781"/>
                </a:cubicBezTo>
                <a:lnTo>
                  <a:pt x="595313" y="555625"/>
                </a:lnTo>
                <a:cubicBezTo>
                  <a:pt x="595313" y="577577"/>
                  <a:pt x="577577" y="595313"/>
                  <a:pt x="555625" y="595313"/>
                </a:cubicBezTo>
                <a:lnTo>
                  <a:pt x="238125" y="595313"/>
                </a:lnTo>
                <a:cubicBezTo>
                  <a:pt x="216173" y="595313"/>
                  <a:pt x="198438" y="577577"/>
                  <a:pt x="198438" y="555625"/>
                </a:cubicBezTo>
                <a:lnTo>
                  <a:pt x="198438" y="535781"/>
                </a:ln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2000" y="22352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6,607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2004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Observations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7084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student records collected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1143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69200" y="14732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422176" y="263798"/>
                </a:moveTo>
                <a:lnTo>
                  <a:pt x="322957" y="422548"/>
                </a:lnTo>
                <a:cubicBezTo>
                  <a:pt x="317748" y="430857"/>
                  <a:pt x="308818" y="436066"/>
                  <a:pt x="299021" y="436563"/>
                </a:cubicBezTo>
                <a:cubicBezTo>
                  <a:pt x="289223" y="437059"/>
                  <a:pt x="279797" y="432594"/>
                  <a:pt x="273968" y="424656"/>
                </a:cubicBezTo>
                <a:lnTo>
                  <a:pt x="214437" y="345281"/>
                </a:lnTo>
                <a:cubicBezTo>
                  <a:pt x="204515" y="332135"/>
                  <a:pt x="207243" y="313531"/>
                  <a:pt x="220390" y="303609"/>
                </a:cubicBezTo>
                <a:cubicBezTo>
                  <a:pt x="233536" y="293688"/>
                  <a:pt x="252140" y="296416"/>
                  <a:pt x="262062" y="309563"/>
                </a:cubicBezTo>
                <a:lnTo>
                  <a:pt x="295548" y="354211"/>
                </a:lnTo>
                <a:lnTo>
                  <a:pt x="371698" y="232296"/>
                </a:lnTo>
                <a:cubicBezTo>
                  <a:pt x="380380" y="218405"/>
                  <a:pt x="398735" y="214064"/>
                  <a:pt x="412750" y="222870"/>
                </a:cubicBezTo>
                <a:cubicBezTo>
                  <a:pt x="426765" y="231676"/>
                  <a:pt x="430981" y="249907"/>
                  <a:pt x="422176" y="263922"/>
                </a:cubicBez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42000" y="22352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6,378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42000" y="32004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Cleaned Dataset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37084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removing incomplete records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1143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688888" y="14732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0" y="119062"/>
                </a:moveTo>
                <a:cubicBezTo>
                  <a:pt x="0" y="75282"/>
                  <a:pt x="35595" y="39688"/>
                  <a:pt x="79375" y="39688"/>
                </a:cubicBezTo>
                <a:lnTo>
                  <a:pt x="476250" y="39688"/>
                </a:lnTo>
                <a:cubicBezTo>
                  <a:pt x="520030" y="39688"/>
                  <a:pt x="555625" y="75282"/>
                  <a:pt x="555625" y="119062"/>
                </a:cubicBezTo>
                <a:lnTo>
                  <a:pt x="555625" y="515937"/>
                </a:lnTo>
                <a:cubicBezTo>
                  <a:pt x="555625" y="559718"/>
                  <a:pt x="520030" y="595313"/>
                  <a:pt x="476250" y="595313"/>
                </a:cubicBezTo>
                <a:lnTo>
                  <a:pt x="79375" y="595313"/>
                </a:lnTo>
                <a:cubicBezTo>
                  <a:pt x="35595" y="595313"/>
                  <a:pt x="0" y="559718"/>
                  <a:pt x="0" y="515937"/>
                </a:cubicBezTo>
                <a:lnTo>
                  <a:pt x="0" y="119062"/>
                </a:lnTo>
                <a:close/>
                <a:moveTo>
                  <a:pt x="79375" y="198438"/>
                </a:moveTo>
                <a:lnTo>
                  <a:pt x="79375" y="515937"/>
                </a:lnTo>
                <a:lnTo>
                  <a:pt x="238125" y="515937"/>
                </a:lnTo>
                <a:lnTo>
                  <a:pt x="238125" y="198438"/>
                </a:lnTo>
                <a:lnTo>
                  <a:pt x="79375" y="198438"/>
                </a:lnTo>
                <a:close/>
                <a:moveTo>
                  <a:pt x="476250" y="198438"/>
                </a:moveTo>
                <a:lnTo>
                  <a:pt x="317500" y="198438"/>
                </a:lnTo>
                <a:lnTo>
                  <a:pt x="317500" y="515937"/>
                </a:lnTo>
                <a:lnTo>
                  <a:pt x="476250" y="515937"/>
                </a:lnTo>
                <a:lnTo>
                  <a:pt x="476250" y="198438"/>
                </a:ln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22000" y="22352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32004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76000" y="37084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numerical + 13 categorical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826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Variables Included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14732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588000"/>
          <a:ext cx="14732000" cy="3048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Hours Studied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Attendance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Sleep Hours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Previous Scores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Motivation Level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 Score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Numerical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49739" y="43339"/>
                </a:moveTo>
                <a:cubicBezTo>
                  <a:pt x="459661" y="33417"/>
                  <a:pt x="459661" y="17304"/>
                  <a:pt x="449739" y="7382"/>
                </a:cubicBezTo>
                <a:cubicBezTo>
                  <a:pt x="439817" y="-2540"/>
                  <a:pt x="423704" y="-2540"/>
                  <a:pt x="413782" y="7382"/>
                </a:cubicBezTo>
                <a:lnTo>
                  <a:pt x="261382" y="159782"/>
                </a:lnTo>
                <a:lnTo>
                  <a:pt x="233839" y="132239"/>
                </a:lnTo>
                <a:cubicBezTo>
                  <a:pt x="230505" y="128905"/>
                  <a:pt x="225901" y="127000"/>
                  <a:pt x="221139" y="127000"/>
                </a:cubicBezTo>
                <a:cubicBezTo>
                  <a:pt x="211217" y="127000"/>
                  <a:pt x="203200" y="135017"/>
                  <a:pt x="203200" y="144939"/>
                </a:cubicBezTo>
                <a:lnTo>
                  <a:pt x="203200" y="168037"/>
                </a:lnTo>
                <a:lnTo>
                  <a:pt x="289163" y="254000"/>
                </a:lnTo>
                <a:lnTo>
                  <a:pt x="312261" y="254000"/>
                </a:lnTo>
                <a:cubicBezTo>
                  <a:pt x="322183" y="254000"/>
                  <a:pt x="330200" y="245983"/>
                  <a:pt x="330200" y="236061"/>
                </a:cubicBezTo>
                <a:cubicBezTo>
                  <a:pt x="330200" y="231299"/>
                  <a:pt x="328295" y="226695"/>
                  <a:pt x="324961" y="223361"/>
                </a:cubicBezTo>
                <a:lnTo>
                  <a:pt x="297418" y="195818"/>
                </a:lnTo>
                <a:lnTo>
                  <a:pt x="449818" y="43418"/>
                </a:lnTo>
                <a:close/>
                <a:moveTo>
                  <a:pt x="270748" y="280511"/>
                </a:moveTo>
                <a:lnTo>
                  <a:pt x="176689" y="186452"/>
                </a:lnTo>
                <a:cubicBezTo>
                  <a:pt x="142796" y="183515"/>
                  <a:pt x="109061" y="195739"/>
                  <a:pt x="84773" y="220027"/>
                </a:cubicBezTo>
                <a:lnTo>
                  <a:pt x="78423" y="226377"/>
                </a:lnTo>
                <a:cubicBezTo>
                  <a:pt x="60722" y="244078"/>
                  <a:pt x="50800" y="268049"/>
                  <a:pt x="50800" y="293053"/>
                </a:cubicBezTo>
                <a:cubicBezTo>
                  <a:pt x="50800" y="298450"/>
                  <a:pt x="56436" y="301943"/>
                  <a:pt x="61278" y="299561"/>
                </a:cubicBezTo>
                <a:lnTo>
                  <a:pt x="101838" y="279321"/>
                </a:lnTo>
                <a:cubicBezTo>
                  <a:pt x="105807" y="277336"/>
                  <a:pt x="109379" y="282575"/>
                  <a:pt x="106124" y="285591"/>
                </a:cubicBezTo>
                <a:lnTo>
                  <a:pt x="5794" y="375761"/>
                </a:lnTo>
                <a:cubicBezTo>
                  <a:pt x="2143" y="379095"/>
                  <a:pt x="0" y="383858"/>
                  <a:pt x="0" y="388858"/>
                </a:cubicBezTo>
                <a:cubicBezTo>
                  <a:pt x="0" y="398542"/>
                  <a:pt x="7858" y="406400"/>
                  <a:pt x="17542" y="406400"/>
                </a:cubicBezTo>
                <a:lnTo>
                  <a:pt x="155099" y="406400"/>
                </a:lnTo>
                <a:cubicBezTo>
                  <a:pt x="185896" y="406400"/>
                  <a:pt x="215344" y="394176"/>
                  <a:pt x="237173" y="372428"/>
                </a:cubicBezTo>
                <a:cubicBezTo>
                  <a:pt x="261461" y="348139"/>
                  <a:pt x="273606" y="314404"/>
                  <a:pt x="270748" y="2805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 and Preprocessing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 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651000"/>
            <a:ext cx="6934200" cy="635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9000" y="1651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16510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Converted categorical variables into factors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463800"/>
            <a:ext cx="6934200" cy="635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9000" y="24638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24638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Checked missing values using is.na()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276600"/>
            <a:ext cx="6934200" cy="635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9000" y="32766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32766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Removed incomplete observations using na.omit()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089400"/>
            <a:ext cx="6934200" cy="635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9000" y="40894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40894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Created pass/fail binary outcome variable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 Summary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651000"/>
          <a:ext cx="7112000" cy="2540000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Missing Values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Teacher_Quality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Parental_Education_Level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Distance_from_Home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382000" y="45720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686800" y="495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398000" y="4826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Dataset: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6,378 observations after cleaning (96.5% retention rate)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30200" y="177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28600" y="0"/>
                </a:moveTo>
                <a:lnTo>
                  <a:pt x="101600" y="0"/>
                </a:lnTo>
                <a:cubicBezTo>
                  <a:pt x="87551" y="0"/>
                  <a:pt x="76200" y="11351"/>
                  <a:pt x="76200" y="25400"/>
                </a:cubicBezTo>
                <a:cubicBezTo>
                  <a:pt x="76200" y="39449"/>
                  <a:pt x="87551" y="50800"/>
                  <a:pt x="101600" y="50800"/>
                </a:cubicBezTo>
                <a:lnTo>
                  <a:pt x="101600" y="171053"/>
                </a:lnTo>
                <a:lnTo>
                  <a:pt x="5953" y="338376"/>
                </a:lnTo>
                <a:cubicBezTo>
                  <a:pt x="2064" y="345281"/>
                  <a:pt x="0" y="352981"/>
                  <a:pt x="0" y="360918"/>
                </a:cubicBezTo>
                <a:cubicBezTo>
                  <a:pt x="0" y="386080"/>
                  <a:pt x="20320" y="406400"/>
                  <a:pt x="45482" y="406400"/>
                </a:cubicBezTo>
                <a:lnTo>
                  <a:pt x="310118" y="406400"/>
                </a:lnTo>
                <a:cubicBezTo>
                  <a:pt x="335201" y="406400"/>
                  <a:pt x="355600" y="386080"/>
                  <a:pt x="355600" y="360918"/>
                </a:cubicBezTo>
                <a:cubicBezTo>
                  <a:pt x="355600" y="352981"/>
                  <a:pt x="353536" y="345202"/>
                  <a:pt x="349647" y="338376"/>
                </a:cubicBezTo>
                <a:lnTo>
                  <a:pt x="254000" y="171053"/>
                </a:lnTo>
                <a:lnTo>
                  <a:pt x="254000" y="50800"/>
                </a:lnTo>
                <a:cubicBezTo>
                  <a:pt x="268049" y="50800"/>
                  <a:pt x="279400" y="39449"/>
                  <a:pt x="279400" y="25400"/>
                </a:cubicBezTo>
                <a:cubicBezTo>
                  <a:pt x="279400" y="11351"/>
                  <a:pt x="268049" y="0"/>
                  <a:pt x="254000" y="0"/>
                </a:cubicBezTo>
                <a:lnTo>
                  <a:pt x="228600" y="0"/>
                </a:lnTo>
                <a:close/>
                <a:moveTo>
                  <a:pt x="152400" y="171053"/>
                </a:moveTo>
                <a:lnTo>
                  <a:pt x="152400" y="50800"/>
                </a:lnTo>
                <a:lnTo>
                  <a:pt x="203200" y="50800"/>
                </a:lnTo>
                <a:lnTo>
                  <a:pt x="203200" y="171053"/>
                </a:lnTo>
                <a:cubicBezTo>
                  <a:pt x="203200" y="179864"/>
                  <a:pt x="205502" y="188595"/>
                  <a:pt x="209868" y="196294"/>
                </a:cubicBezTo>
                <a:lnTo>
                  <a:pt x="242888" y="254000"/>
                </a:lnTo>
                <a:lnTo>
                  <a:pt x="112713" y="254000"/>
                </a:lnTo>
                <a:lnTo>
                  <a:pt x="145733" y="196294"/>
                </a:lnTo>
                <a:cubicBezTo>
                  <a:pt x="150098" y="188595"/>
                  <a:pt x="152400" y="179943"/>
                  <a:pt x="152400" y="1710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Techniques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Methods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6510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52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63500"/>
                </a:moveTo>
                <a:cubicBezTo>
                  <a:pt x="152400" y="42466"/>
                  <a:pt x="169466" y="25400"/>
                  <a:pt x="190500" y="25400"/>
                </a:cubicBezTo>
                <a:lnTo>
                  <a:pt x="215900" y="25400"/>
                </a:lnTo>
                <a:cubicBezTo>
                  <a:pt x="236934" y="25400"/>
                  <a:pt x="254000" y="42466"/>
                  <a:pt x="254000" y="63500"/>
                </a:cubicBezTo>
                <a:lnTo>
                  <a:pt x="254000" y="342900"/>
                </a:lnTo>
                <a:cubicBezTo>
                  <a:pt x="254000" y="363934"/>
                  <a:pt x="236934" y="381000"/>
                  <a:pt x="2159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63500"/>
                </a:lnTo>
                <a:close/>
                <a:moveTo>
                  <a:pt x="0" y="215900"/>
                </a:moveTo>
                <a:cubicBezTo>
                  <a:pt x="0" y="194866"/>
                  <a:pt x="17066" y="177800"/>
                  <a:pt x="38100" y="177800"/>
                </a:cubicBezTo>
                <a:lnTo>
                  <a:pt x="63500" y="177800"/>
                </a:lnTo>
                <a:cubicBezTo>
                  <a:pt x="84534" y="177800"/>
                  <a:pt x="101600" y="194866"/>
                  <a:pt x="101600" y="215900"/>
                </a:cubicBezTo>
                <a:lnTo>
                  <a:pt x="101600" y="342900"/>
                </a:lnTo>
                <a:cubicBezTo>
                  <a:pt x="101600" y="363934"/>
                  <a:pt x="84534" y="381000"/>
                  <a:pt x="6350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215900"/>
                </a:lnTo>
                <a:close/>
                <a:moveTo>
                  <a:pt x="342900" y="76200"/>
                </a:moveTo>
                <a:lnTo>
                  <a:pt x="368300" y="76200"/>
                </a:lnTo>
                <a:cubicBezTo>
                  <a:pt x="389334" y="76200"/>
                  <a:pt x="406400" y="93266"/>
                  <a:pt x="406400" y="1143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2900" y="381000"/>
                </a:lnTo>
                <a:cubicBezTo>
                  <a:pt x="321866" y="381000"/>
                  <a:pt x="304800" y="363934"/>
                  <a:pt x="304800" y="342900"/>
                </a:cubicBezTo>
                <a:lnTo>
                  <a:pt x="304800" y="114300"/>
                </a:lnTo>
                <a:cubicBezTo>
                  <a:pt x="304800" y="93266"/>
                  <a:pt x="321866" y="76200"/>
                  <a:pt x="342900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73200" y="1651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9600" y="16510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97400" y="1905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30800" y="1651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8702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  <a:effectLst>
            <a:outerShdw blurRad="76200" dist="25400" dir="5400000" algn="bl" rotWithShape="0">
              <a:srgbClr val="E07B54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5200" y="3124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73200" y="28702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19600" y="28702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  <a:effectLst>
            <a:outerShdw blurRad="76200" dist="25400" dir="5400000" algn="bl" rotWithShape="0">
              <a:srgbClr val="E07B54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2800" y="3124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2090" y="0"/>
                  <a:pt x="220424" y="4683"/>
                  <a:pt x="224949" y="12303"/>
                </a:cubicBezTo>
                <a:lnTo>
                  <a:pt x="301149" y="139303"/>
                </a:lnTo>
                <a:cubicBezTo>
                  <a:pt x="305832" y="147161"/>
                  <a:pt x="305991" y="156924"/>
                  <a:pt x="301466" y="164862"/>
                </a:cubicBezTo>
                <a:cubicBezTo>
                  <a:pt x="296942" y="172799"/>
                  <a:pt x="288528" y="177800"/>
                  <a:pt x="279400" y="177800"/>
                </a:cubicBezTo>
                <a:lnTo>
                  <a:pt x="127000" y="177800"/>
                </a:lnTo>
                <a:cubicBezTo>
                  <a:pt x="117872" y="177800"/>
                  <a:pt x="109379" y="172879"/>
                  <a:pt x="104934" y="164941"/>
                </a:cubicBezTo>
                <a:cubicBezTo>
                  <a:pt x="100489" y="157004"/>
                  <a:pt x="100568" y="147241"/>
                  <a:pt x="105251" y="139383"/>
                </a:cubicBezTo>
                <a:lnTo>
                  <a:pt x="181451" y="12383"/>
                </a:lnTo>
                <a:cubicBezTo>
                  <a:pt x="185976" y="4683"/>
                  <a:pt x="194310" y="0"/>
                  <a:pt x="203200" y="0"/>
                </a:cubicBezTo>
                <a:close/>
                <a:moveTo>
                  <a:pt x="101600" y="215900"/>
                </a:moveTo>
                <a:cubicBezTo>
                  <a:pt x="150665" y="215900"/>
                  <a:pt x="190500" y="255735"/>
                  <a:pt x="190500" y="304800"/>
                </a:cubicBezTo>
                <a:cubicBezTo>
                  <a:pt x="190500" y="353865"/>
                  <a:pt x="150665" y="393700"/>
                  <a:pt x="101600" y="393700"/>
                </a:cubicBezTo>
                <a:cubicBezTo>
                  <a:pt x="52535" y="393700"/>
                  <a:pt x="12700" y="353865"/>
                  <a:pt x="12700" y="304800"/>
                </a:cubicBezTo>
                <a:cubicBezTo>
                  <a:pt x="12700" y="255735"/>
                  <a:pt x="52535" y="215900"/>
                  <a:pt x="101600" y="215900"/>
                </a:cubicBezTo>
                <a:close/>
                <a:moveTo>
                  <a:pt x="260350" y="228600"/>
                </a:moveTo>
                <a:lnTo>
                  <a:pt x="349250" y="228600"/>
                </a:lnTo>
                <a:cubicBezTo>
                  <a:pt x="366792" y="228600"/>
                  <a:pt x="381000" y="242808"/>
                  <a:pt x="381000" y="260350"/>
                </a:cubicBezTo>
                <a:lnTo>
                  <a:pt x="381000" y="349250"/>
                </a:lnTo>
                <a:cubicBezTo>
                  <a:pt x="381000" y="366792"/>
                  <a:pt x="366792" y="381000"/>
                  <a:pt x="349250" y="381000"/>
                </a:cubicBezTo>
                <a:lnTo>
                  <a:pt x="260350" y="381000"/>
                </a:lnTo>
                <a:cubicBezTo>
                  <a:pt x="242808" y="381000"/>
                  <a:pt x="228600" y="366792"/>
                  <a:pt x="228600" y="349250"/>
                </a:cubicBezTo>
                <a:lnTo>
                  <a:pt x="228600" y="260350"/>
                </a:lnTo>
                <a:cubicBezTo>
                  <a:pt x="228600" y="242808"/>
                  <a:pt x="242808" y="228600"/>
                  <a:pt x="260350" y="2286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30800" y="28702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089400"/>
            <a:ext cx="7086600" cy="1016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5200" y="4343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73200" y="4089400"/>
            <a:ext cx="609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Analysis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Assumption Tests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651000"/>
          <a:ext cx="7112000" cy="3454398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733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Purpose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VIF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Multicollinearity detection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Residual Analysis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Model fit assessment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QQ Plot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Normality check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Cook's Distance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Outlier detection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7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Shapiro-Wilk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Normality test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62000" y="5588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 w="12700">
            <a:solidFill>
              <a:srgbClr val="E07B54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66800" y="5918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07950"/>
                </a:moveTo>
                <a:cubicBezTo>
                  <a:pt x="213757" y="107950"/>
                  <a:pt x="222250" y="116443"/>
                  <a:pt x="222250" y="127000"/>
                </a:cubicBezTo>
                <a:lnTo>
                  <a:pt x="222250" y="215900"/>
                </a:lnTo>
                <a:cubicBezTo>
                  <a:pt x="222250" y="226457"/>
                  <a:pt x="213757" y="234950"/>
                  <a:pt x="203200" y="234950"/>
                </a:cubicBezTo>
                <a:cubicBezTo>
                  <a:pt x="192643" y="234950"/>
                  <a:pt x="184150" y="226457"/>
                  <a:pt x="184150" y="215900"/>
                </a:cubicBezTo>
                <a:lnTo>
                  <a:pt x="184150" y="127000"/>
                </a:lnTo>
                <a:cubicBezTo>
                  <a:pt x="184150" y="116443"/>
                  <a:pt x="192643" y="107950"/>
                  <a:pt x="203200" y="107950"/>
                </a:cubicBezTo>
                <a:close/>
                <a:moveTo>
                  <a:pt x="182007" y="279400"/>
                </a:moveTo>
                <a:cubicBezTo>
                  <a:pt x="181525" y="271533"/>
                  <a:pt x="185448" y="264049"/>
                  <a:pt x="192192" y="259970"/>
                </a:cubicBezTo>
                <a:cubicBezTo>
                  <a:pt x="198935" y="255891"/>
                  <a:pt x="207385" y="255891"/>
                  <a:pt x="214129" y="259970"/>
                </a:cubicBezTo>
                <a:cubicBezTo>
                  <a:pt x="220873" y="264049"/>
                  <a:pt x="224796" y="271533"/>
                  <a:pt x="224314" y="279400"/>
                </a:cubicBezTo>
                <a:cubicBezTo>
                  <a:pt x="224796" y="287267"/>
                  <a:pt x="220873" y="294751"/>
                  <a:pt x="214129" y="298830"/>
                </a:cubicBezTo>
                <a:cubicBezTo>
                  <a:pt x="207385" y="302909"/>
                  <a:pt x="198935" y="302909"/>
                  <a:pt x="192192" y="298830"/>
                </a:cubicBezTo>
                <a:cubicBezTo>
                  <a:pt x="185448" y="294751"/>
                  <a:pt x="181525" y="287267"/>
                  <a:pt x="182007" y="279400"/>
                </a:cubicBez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651000" y="5791200"/>
            <a:ext cx="13538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Finding: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Shapiro-Wilk normality test could not be performed because the sample size exceeded 5,000 observations.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30200" y="177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76200"/>
                </a:moveTo>
                <a:lnTo>
                  <a:pt x="304800" y="127000"/>
                </a:lnTo>
                <a:lnTo>
                  <a:pt x="254000" y="127000"/>
                </a:lnTo>
                <a:lnTo>
                  <a:pt x="254000" y="76200"/>
                </a:lnTo>
                <a:lnTo>
                  <a:pt x="304800" y="76200"/>
                </a:lnTo>
                <a:close/>
                <a:moveTo>
                  <a:pt x="304800" y="177800"/>
                </a:moveTo>
                <a:lnTo>
                  <a:pt x="304800" y="228600"/>
                </a:lnTo>
                <a:lnTo>
                  <a:pt x="254000" y="228600"/>
                </a:lnTo>
                <a:lnTo>
                  <a:pt x="254000" y="177800"/>
                </a:lnTo>
                <a:lnTo>
                  <a:pt x="304800" y="177800"/>
                </a:lnTo>
                <a:close/>
                <a:moveTo>
                  <a:pt x="304800" y="279400"/>
                </a:moveTo>
                <a:lnTo>
                  <a:pt x="304800" y="330200"/>
                </a:lnTo>
                <a:lnTo>
                  <a:pt x="254000" y="330200"/>
                </a:lnTo>
                <a:lnTo>
                  <a:pt x="254000" y="279400"/>
                </a:lnTo>
                <a:lnTo>
                  <a:pt x="304800" y="279400"/>
                </a:lnTo>
                <a:close/>
                <a:moveTo>
                  <a:pt x="203200" y="228600"/>
                </a:moveTo>
                <a:lnTo>
                  <a:pt x="152400" y="228600"/>
                </a:lnTo>
                <a:lnTo>
                  <a:pt x="152400" y="177800"/>
                </a:lnTo>
                <a:lnTo>
                  <a:pt x="203200" y="177800"/>
                </a:lnTo>
                <a:lnTo>
                  <a:pt x="203200" y="228600"/>
                </a:lnTo>
                <a:close/>
                <a:moveTo>
                  <a:pt x="152400" y="279400"/>
                </a:moveTo>
                <a:lnTo>
                  <a:pt x="203200" y="279400"/>
                </a:lnTo>
                <a:lnTo>
                  <a:pt x="203200" y="330200"/>
                </a:lnTo>
                <a:lnTo>
                  <a:pt x="152400" y="330200"/>
                </a:lnTo>
                <a:lnTo>
                  <a:pt x="152400" y="279400"/>
                </a:lnTo>
                <a:close/>
                <a:moveTo>
                  <a:pt x="101600" y="228600"/>
                </a:moveTo>
                <a:lnTo>
                  <a:pt x="50800" y="228600"/>
                </a:lnTo>
                <a:lnTo>
                  <a:pt x="50800" y="177800"/>
                </a:lnTo>
                <a:lnTo>
                  <a:pt x="101600" y="177800"/>
                </a:lnTo>
                <a:lnTo>
                  <a:pt x="101600" y="228600"/>
                </a:lnTo>
                <a:close/>
                <a:moveTo>
                  <a:pt x="50800" y="279400"/>
                </a:moveTo>
                <a:lnTo>
                  <a:pt x="101600" y="279400"/>
                </a:lnTo>
                <a:lnTo>
                  <a:pt x="101600" y="330200"/>
                </a:lnTo>
                <a:lnTo>
                  <a:pt x="50800" y="330200"/>
                </a:lnTo>
                <a:lnTo>
                  <a:pt x="50800" y="279400"/>
                </a:lnTo>
                <a:close/>
                <a:moveTo>
                  <a:pt x="50800" y="127000"/>
                </a:moveTo>
                <a:lnTo>
                  <a:pt x="50800" y="76200"/>
                </a:lnTo>
                <a:lnTo>
                  <a:pt x="101600" y="76200"/>
                </a:lnTo>
                <a:lnTo>
                  <a:pt x="101600" y="127000"/>
                </a:lnTo>
                <a:lnTo>
                  <a:pt x="50800" y="127000"/>
                </a:lnTo>
                <a:close/>
                <a:moveTo>
                  <a:pt x="152400" y="127000"/>
                </a:moveTo>
                <a:lnTo>
                  <a:pt x="152400" y="76200"/>
                </a:lnTo>
                <a:lnTo>
                  <a:pt x="203200" y="76200"/>
                </a:lnTo>
                <a:lnTo>
                  <a:pt x="203200" y="127000"/>
                </a:lnTo>
                <a:lnTo>
                  <a:pt x="152400" y="127000"/>
                </a:lnTo>
                <a:close/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66800"/>
          <a:ext cx="9144000" cy="4318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Skewness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Kurtosis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Hours Studied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19.98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5.99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Attendance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79.98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11.55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-1.19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Sleep Hours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7.03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1.47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-0.02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-0.50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Previous Scores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75.07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14.40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-1.19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Tutoring Sessions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1.49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1.23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Physical Activity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2.97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-0.03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-0.06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 Score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67.24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3.89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1.64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10.56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414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414000" y="1574800"/>
            <a:ext cx="508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414000" y="1930400"/>
            <a:ext cx="152400" cy="152400"/>
          </a:xfrm>
          <a:prstGeom prst="ellipse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718800" y="1778000"/>
            <a:ext cx="477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Score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shows positive skewness (1.64)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414000" y="2794000"/>
            <a:ext cx="152400" cy="152400"/>
          </a:xfrm>
          <a:prstGeom prst="ellipse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718800" y="2641600"/>
            <a:ext cx="477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kurtosis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(10.56) indicates outliers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414000" y="36576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718800" y="3505200"/>
            <a:ext cx="477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Tutoring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moderately skewed (0.82)</a:t>
            </a:r>
            <a:endParaRPr lang="en-US" sz="1600" dirty="0"/>
          </a:p>
        </p:txBody>
      </p:sp>
      <p:sp>
        <p:nvSpPr>
          <p:cNvPr id="6" name="Shape 12"/>
          <p:cNvSpPr/>
          <p:nvPr/>
        </p:nvSpPr>
        <p:spPr>
          <a:xfrm>
            <a:off x="10414000" y="4521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718800" y="4368800"/>
            <a:ext cx="477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near-normal distribution</a:t>
            </a:r>
            <a:endParaRPr lang="en-US" sz="16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62000" y="5715000"/>
          <a:ext cx="1473200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4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6718" y="190500"/>
                </a:moveTo>
                <a:lnTo>
                  <a:pt x="267017" y="190500"/>
                </a:lnTo>
                <a:cubicBezTo>
                  <a:pt x="252968" y="190500"/>
                  <a:pt x="241618" y="179149"/>
                  <a:pt x="241618" y="165100"/>
                </a:cubicBezTo>
                <a:lnTo>
                  <a:pt x="241618" y="25400"/>
                </a:lnTo>
                <a:cubicBezTo>
                  <a:pt x="241618" y="11351"/>
                  <a:pt x="253047" y="-159"/>
                  <a:pt x="266938" y="1667"/>
                </a:cubicBezTo>
                <a:cubicBezTo>
                  <a:pt x="351869" y="12938"/>
                  <a:pt x="419179" y="80248"/>
                  <a:pt x="430451" y="165179"/>
                </a:cubicBezTo>
                <a:cubicBezTo>
                  <a:pt x="432276" y="179070"/>
                  <a:pt x="420767" y="190500"/>
                  <a:pt x="406718" y="190500"/>
                </a:cubicBezTo>
                <a:close/>
                <a:moveTo>
                  <a:pt x="176689" y="29528"/>
                </a:moveTo>
                <a:cubicBezTo>
                  <a:pt x="191056" y="26511"/>
                  <a:pt x="203518" y="38259"/>
                  <a:pt x="203518" y="52943"/>
                </a:cubicBezTo>
                <a:lnTo>
                  <a:pt x="203518" y="209550"/>
                </a:lnTo>
                <a:cubicBezTo>
                  <a:pt x="203518" y="213995"/>
                  <a:pt x="205105" y="218281"/>
                  <a:pt x="207883" y="221694"/>
                </a:cubicBezTo>
                <a:lnTo>
                  <a:pt x="312738" y="348218"/>
                </a:lnTo>
                <a:cubicBezTo>
                  <a:pt x="322024" y="359410"/>
                  <a:pt x="320040" y="376317"/>
                  <a:pt x="307261" y="383223"/>
                </a:cubicBezTo>
                <a:cubicBezTo>
                  <a:pt x="280194" y="397986"/>
                  <a:pt x="249158" y="406400"/>
                  <a:pt x="216218" y="406400"/>
                </a:cubicBezTo>
                <a:cubicBezTo>
                  <a:pt x="111046" y="406400"/>
                  <a:pt x="25718" y="321072"/>
                  <a:pt x="25718" y="215900"/>
                </a:cubicBezTo>
                <a:cubicBezTo>
                  <a:pt x="25718" y="124222"/>
                  <a:pt x="90408" y="47704"/>
                  <a:pt x="176689" y="29527"/>
                </a:cubicBezTo>
                <a:close/>
                <a:moveTo>
                  <a:pt x="379254" y="228600"/>
                </a:moveTo>
                <a:lnTo>
                  <a:pt x="430054" y="228600"/>
                </a:lnTo>
                <a:cubicBezTo>
                  <a:pt x="444738" y="228600"/>
                  <a:pt x="456486" y="241062"/>
                  <a:pt x="453469" y="255429"/>
                </a:cubicBezTo>
                <a:cubicBezTo>
                  <a:pt x="445373" y="293846"/>
                  <a:pt x="425688" y="327978"/>
                  <a:pt x="398224" y="354013"/>
                </a:cubicBezTo>
                <a:cubicBezTo>
                  <a:pt x="388461" y="363299"/>
                  <a:pt x="373142" y="361315"/>
                  <a:pt x="364569" y="350917"/>
                </a:cubicBezTo>
                <a:lnTo>
                  <a:pt x="297577" y="270193"/>
                </a:lnTo>
                <a:cubicBezTo>
                  <a:pt x="283845" y="253603"/>
                  <a:pt x="295672" y="228600"/>
                  <a:pt x="317103" y="228600"/>
                </a:cubicBezTo>
                <a:lnTo>
                  <a:pt x="379174" y="2286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Frequency Distribution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62000" y="1066800"/>
          <a:ext cx="4572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842000" y="1066800"/>
          <a:ext cx="4572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10922000" y="1066800"/>
          <a:ext cx="4572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762000" y="5715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016000" y="5842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dataset is predominantly male (57.7%) from public schools (69.6%). Motivation levels are highest in the Medium category (52.5%), suggesting most students maintain moderate engagement.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Histogram and Boxplot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62000" y="1066800"/>
          <a:ext cx="7874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9144000" y="10668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Histogram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0" y="1574800"/>
            <a:ext cx="635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144000" y="18796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448800" y="1727200"/>
            <a:ext cx="604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scores follow a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distribution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0" y="25908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448800" y="2438400"/>
            <a:ext cx="604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scores concentrated around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65-70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0" y="3429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Boxplot Findings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0" y="3937000"/>
            <a:ext cx="635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144000" y="4241800"/>
            <a:ext cx="152400" cy="152400"/>
          </a:xfrm>
          <a:prstGeom prst="ellipse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448800" y="4089400"/>
            <a:ext cx="604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present in exam scores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144000" y="4953000"/>
            <a:ext cx="152400" cy="152400"/>
          </a:xfrm>
          <a:prstGeom prst="ellipse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448800" y="4800600"/>
            <a:ext cx="604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Extreme observations above upper whiskers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5715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 w="12700">
            <a:solidFill>
              <a:srgbClr val="E07B54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66800" y="604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651000" y="5842000"/>
            <a:ext cx="13538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 Detection Methods: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Boxplot method used for visual identification; Cook's Distance applied to detect influential observations in regression analysis.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5600" y="1778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63500" y="114300"/>
                </a:moveTo>
                <a:cubicBezTo>
                  <a:pt x="98547" y="114300"/>
                  <a:pt x="127000" y="85847"/>
                  <a:pt x="127000" y="50800"/>
                </a:cubicBezTo>
                <a:cubicBezTo>
                  <a:pt x="127000" y="15753"/>
                  <a:pt x="98547" y="-12700"/>
                  <a:pt x="63500" y="-12700"/>
                </a:cubicBezTo>
                <a:cubicBezTo>
                  <a:pt x="28453" y="-12700"/>
                  <a:pt x="0" y="15753"/>
                  <a:pt x="0" y="50800"/>
                </a:cubicBezTo>
                <a:cubicBezTo>
                  <a:pt x="0" y="85847"/>
                  <a:pt x="28453" y="114300"/>
                  <a:pt x="63500" y="114300"/>
                </a:cubicBezTo>
                <a:close/>
                <a:moveTo>
                  <a:pt x="63500" y="266700"/>
                </a:moveTo>
                <a:cubicBezTo>
                  <a:pt x="98547" y="266700"/>
                  <a:pt x="127000" y="238247"/>
                  <a:pt x="127000" y="203200"/>
                </a:cubicBezTo>
                <a:cubicBezTo>
                  <a:pt x="127000" y="168153"/>
                  <a:pt x="98547" y="139700"/>
                  <a:pt x="63500" y="139700"/>
                </a:cubicBezTo>
                <a:cubicBezTo>
                  <a:pt x="28453" y="139700"/>
                  <a:pt x="0" y="168153"/>
                  <a:pt x="0" y="203200"/>
                </a:cubicBezTo>
                <a:cubicBezTo>
                  <a:pt x="0" y="238247"/>
                  <a:pt x="28453" y="266700"/>
                  <a:pt x="63500" y="266700"/>
                </a:cubicBezTo>
                <a:close/>
                <a:moveTo>
                  <a:pt x="63500" y="374650"/>
                </a:moveTo>
                <a:cubicBezTo>
                  <a:pt x="52943" y="374650"/>
                  <a:pt x="44450" y="366157"/>
                  <a:pt x="44450" y="355600"/>
                </a:cubicBezTo>
                <a:cubicBezTo>
                  <a:pt x="44450" y="345043"/>
                  <a:pt x="52943" y="336550"/>
                  <a:pt x="63500" y="336550"/>
                </a:cubicBezTo>
                <a:cubicBezTo>
                  <a:pt x="74057" y="336550"/>
                  <a:pt x="82550" y="345043"/>
                  <a:pt x="82550" y="355600"/>
                </a:cubicBezTo>
                <a:cubicBezTo>
                  <a:pt x="82550" y="366157"/>
                  <a:pt x="74057" y="374650"/>
                  <a:pt x="63500" y="374650"/>
                </a:cubicBezTo>
                <a:close/>
                <a:moveTo>
                  <a:pt x="63500" y="419100"/>
                </a:moveTo>
                <a:cubicBezTo>
                  <a:pt x="98584" y="419100"/>
                  <a:pt x="127000" y="390684"/>
                  <a:pt x="127000" y="355600"/>
                </a:cubicBezTo>
                <a:cubicBezTo>
                  <a:pt x="127000" y="320516"/>
                  <a:pt x="98584" y="292100"/>
                  <a:pt x="63500" y="292100"/>
                </a:cubicBezTo>
                <a:cubicBezTo>
                  <a:pt x="28416" y="292100"/>
                  <a:pt x="0" y="320516"/>
                  <a:pt x="0" y="355600"/>
                </a:cubicBezTo>
                <a:cubicBezTo>
                  <a:pt x="0" y="390684"/>
                  <a:pt x="28416" y="419100"/>
                  <a:pt x="63500" y="419100"/>
                </a:cubicBezTo>
                <a:close/>
                <a:moveTo>
                  <a:pt x="260350" y="355600"/>
                </a:moveTo>
                <a:cubicBezTo>
                  <a:pt x="260350" y="366157"/>
                  <a:pt x="251857" y="374650"/>
                  <a:pt x="241300" y="374650"/>
                </a:cubicBezTo>
                <a:cubicBezTo>
                  <a:pt x="230743" y="374650"/>
                  <a:pt x="222250" y="366157"/>
                  <a:pt x="222250" y="355600"/>
                </a:cubicBezTo>
                <a:cubicBezTo>
                  <a:pt x="222250" y="345043"/>
                  <a:pt x="230743" y="336550"/>
                  <a:pt x="241300" y="336550"/>
                </a:cubicBezTo>
                <a:cubicBezTo>
                  <a:pt x="251857" y="336550"/>
                  <a:pt x="260350" y="345043"/>
                  <a:pt x="260350" y="355600"/>
                </a:cubicBezTo>
                <a:close/>
                <a:moveTo>
                  <a:pt x="304800" y="355600"/>
                </a:moveTo>
                <a:cubicBezTo>
                  <a:pt x="304800" y="320516"/>
                  <a:pt x="276384" y="292100"/>
                  <a:pt x="241300" y="292100"/>
                </a:cubicBezTo>
                <a:cubicBezTo>
                  <a:pt x="206216" y="292100"/>
                  <a:pt x="177800" y="320516"/>
                  <a:pt x="177800" y="355600"/>
                </a:cubicBezTo>
                <a:cubicBezTo>
                  <a:pt x="177800" y="390684"/>
                  <a:pt x="206216" y="419100"/>
                  <a:pt x="241300" y="419100"/>
                </a:cubicBezTo>
                <a:cubicBezTo>
                  <a:pt x="276384" y="419100"/>
                  <a:pt x="304800" y="390684"/>
                  <a:pt x="304800" y="355600"/>
                </a:cubicBezTo>
                <a:close/>
                <a:moveTo>
                  <a:pt x="241300" y="184150"/>
                </a:moveTo>
                <a:cubicBezTo>
                  <a:pt x="251814" y="184150"/>
                  <a:pt x="260350" y="192686"/>
                  <a:pt x="260350" y="203200"/>
                </a:cubicBezTo>
                <a:cubicBezTo>
                  <a:pt x="260350" y="213714"/>
                  <a:pt x="251814" y="222250"/>
                  <a:pt x="241300" y="222250"/>
                </a:cubicBezTo>
                <a:cubicBezTo>
                  <a:pt x="230786" y="222250"/>
                  <a:pt x="222250" y="213714"/>
                  <a:pt x="222250" y="203200"/>
                </a:cubicBezTo>
                <a:cubicBezTo>
                  <a:pt x="222250" y="192686"/>
                  <a:pt x="230786" y="184150"/>
                  <a:pt x="241300" y="184150"/>
                </a:cubicBezTo>
                <a:close/>
                <a:moveTo>
                  <a:pt x="241300" y="266700"/>
                </a:moveTo>
                <a:cubicBezTo>
                  <a:pt x="276347" y="266700"/>
                  <a:pt x="304800" y="238247"/>
                  <a:pt x="304800" y="203200"/>
                </a:cubicBezTo>
                <a:cubicBezTo>
                  <a:pt x="304800" y="168153"/>
                  <a:pt x="276347" y="139700"/>
                  <a:pt x="241300" y="139700"/>
                </a:cubicBezTo>
                <a:cubicBezTo>
                  <a:pt x="206253" y="139700"/>
                  <a:pt x="177800" y="168153"/>
                  <a:pt x="177800" y="203200"/>
                </a:cubicBezTo>
                <a:cubicBezTo>
                  <a:pt x="177800" y="238247"/>
                  <a:pt x="206253" y="266700"/>
                  <a:pt x="241300" y="266700"/>
                </a:cubicBezTo>
                <a:close/>
                <a:moveTo>
                  <a:pt x="241300" y="114300"/>
                </a:moveTo>
                <a:cubicBezTo>
                  <a:pt x="276347" y="114300"/>
                  <a:pt x="304800" y="85847"/>
                  <a:pt x="304800" y="50800"/>
                </a:cubicBezTo>
                <a:cubicBezTo>
                  <a:pt x="304800" y="15753"/>
                  <a:pt x="276347" y="-12700"/>
                  <a:pt x="241300" y="-12700"/>
                </a:cubicBezTo>
                <a:cubicBezTo>
                  <a:pt x="206253" y="-12700"/>
                  <a:pt x="177800" y="15753"/>
                  <a:pt x="177800" y="50800"/>
                </a:cubicBezTo>
                <a:cubicBezTo>
                  <a:pt x="177800" y="85847"/>
                  <a:pt x="206253" y="114300"/>
                  <a:pt x="241300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Scatterplot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0" y="10668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0" y="1574800"/>
            <a:ext cx="635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121775" y="1905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52000" y="1828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vs Exam Score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52000" y="2336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relationship observed between attendance and exam performance.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21775" y="342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52000" y="3352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Hours vs Performance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52000" y="3860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hours show the strongest association with exam outcomes.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121775" y="495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6A9B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52000" y="4876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A9B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Previous Scores vs Outcome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52000" y="5384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Previous scores moderately related to current exam results.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144000" y="6604000"/>
            <a:ext cx="6350000" cy="9398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398000" y="6731000"/>
            <a:ext cx="584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r>
              <a:rPr lang="en-US" sz="16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three predictors show positive linear trends with exam scores.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B618333-0CA2-8901-7037-A5CB5041F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53" y="1255199"/>
            <a:ext cx="6525623" cy="768709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77412-7B0A-03F5-42DF-4FD208BD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6B0DB7-9AE1-A672-1051-DDD522673131}"/>
              </a:ext>
            </a:extLst>
          </p:cNvPr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9B85C1-BF40-EE38-FBF2-AE5BD163700E}"/>
              </a:ext>
            </a:extLst>
          </p:cNvPr>
          <p:cNvSpPr/>
          <p:nvPr/>
        </p:nvSpPr>
        <p:spPr>
          <a:xfrm>
            <a:off x="355600" y="1778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63500" y="114300"/>
                </a:moveTo>
                <a:cubicBezTo>
                  <a:pt x="98547" y="114300"/>
                  <a:pt x="127000" y="85847"/>
                  <a:pt x="127000" y="50800"/>
                </a:cubicBezTo>
                <a:cubicBezTo>
                  <a:pt x="127000" y="15753"/>
                  <a:pt x="98547" y="-12700"/>
                  <a:pt x="63500" y="-12700"/>
                </a:cubicBezTo>
                <a:cubicBezTo>
                  <a:pt x="28453" y="-12700"/>
                  <a:pt x="0" y="15753"/>
                  <a:pt x="0" y="50800"/>
                </a:cubicBezTo>
                <a:cubicBezTo>
                  <a:pt x="0" y="85847"/>
                  <a:pt x="28453" y="114300"/>
                  <a:pt x="63500" y="114300"/>
                </a:cubicBezTo>
                <a:close/>
                <a:moveTo>
                  <a:pt x="63500" y="266700"/>
                </a:moveTo>
                <a:cubicBezTo>
                  <a:pt x="98547" y="266700"/>
                  <a:pt x="127000" y="238247"/>
                  <a:pt x="127000" y="203200"/>
                </a:cubicBezTo>
                <a:cubicBezTo>
                  <a:pt x="127000" y="168153"/>
                  <a:pt x="98547" y="139700"/>
                  <a:pt x="63500" y="139700"/>
                </a:cubicBezTo>
                <a:cubicBezTo>
                  <a:pt x="28453" y="139700"/>
                  <a:pt x="0" y="168153"/>
                  <a:pt x="0" y="203200"/>
                </a:cubicBezTo>
                <a:cubicBezTo>
                  <a:pt x="0" y="238247"/>
                  <a:pt x="28453" y="266700"/>
                  <a:pt x="63500" y="266700"/>
                </a:cubicBezTo>
                <a:close/>
                <a:moveTo>
                  <a:pt x="63500" y="374650"/>
                </a:moveTo>
                <a:cubicBezTo>
                  <a:pt x="52943" y="374650"/>
                  <a:pt x="44450" y="366157"/>
                  <a:pt x="44450" y="355600"/>
                </a:cubicBezTo>
                <a:cubicBezTo>
                  <a:pt x="44450" y="345043"/>
                  <a:pt x="52943" y="336550"/>
                  <a:pt x="63500" y="336550"/>
                </a:cubicBezTo>
                <a:cubicBezTo>
                  <a:pt x="74057" y="336550"/>
                  <a:pt x="82550" y="345043"/>
                  <a:pt x="82550" y="355600"/>
                </a:cubicBezTo>
                <a:cubicBezTo>
                  <a:pt x="82550" y="366157"/>
                  <a:pt x="74057" y="374650"/>
                  <a:pt x="63500" y="374650"/>
                </a:cubicBezTo>
                <a:close/>
                <a:moveTo>
                  <a:pt x="63500" y="419100"/>
                </a:moveTo>
                <a:cubicBezTo>
                  <a:pt x="98584" y="419100"/>
                  <a:pt x="127000" y="390684"/>
                  <a:pt x="127000" y="355600"/>
                </a:cubicBezTo>
                <a:cubicBezTo>
                  <a:pt x="127000" y="320516"/>
                  <a:pt x="98584" y="292100"/>
                  <a:pt x="63500" y="292100"/>
                </a:cubicBezTo>
                <a:cubicBezTo>
                  <a:pt x="28416" y="292100"/>
                  <a:pt x="0" y="320516"/>
                  <a:pt x="0" y="355600"/>
                </a:cubicBezTo>
                <a:cubicBezTo>
                  <a:pt x="0" y="390684"/>
                  <a:pt x="28416" y="419100"/>
                  <a:pt x="63500" y="419100"/>
                </a:cubicBezTo>
                <a:close/>
                <a:moveTo>
                  <a:pt x="260350" y="355600"/>
                </a:moveTo>
                <a:cubicBezTo>
                  <a:pt x="260350" y="366157"/>
                  <a:pt x="251857" y="374650"/>
                  <a:pt x="241300" y="374650"/>
                </a:cubicBezTo>
                <a:cubicBezTo>
                  <a:pt x="230743" y="374650"/>
                  <a:pt x="222250" y="366157"/>
                  <a:pt x="222250" y="355600"/>
                </a:cubicBezTo>
                <a:cubicBezTo>
                  <a:pt x="222250" y="345043"/>
                  <a:pt x="230743" y="336550"/>
                  <a:pt x="241300" y="336550"/>
                </a:cubicBezTo>
                <a:cubicBezTo>
                  <a:pt x="251857" y="336550"/>
                  <a:pt x="260350" y="345043"/>
                  <a:pt x="260350" y="355600"/>
                </a:cubicBezTo>
                <a:close/>
                <a:moveTo>
                  <a:pt x="304800" y="355600"/>
                </a:moveTo>
                <a:cubicBezTo>
                  <a:pt x="304800" y="320516"/>
                  <a:pt x="276384" y="292100"/>
                  <a:pt x="241300" y="292100"/>
                </a:cubicBezTo>
                <a:cubicBezTo>
                  <a:pt x="206216" y="292100"/>
                  <a:pt x="177800" y="320516"/>
                  <a:pt x="177800" y="355600"/>
                </a:cubicBezTo>
                <a:cubicBezTo>
                  <a:pt x="177800" y="390684"/>
                  <a:pt x="206216" y="419100"/>
                  <a:pt x="241300" y="419100"/>
                </a:cubicBezTo>
                <a:cubicBezTo>
                  <a:pt x="276384" y="419100"/>
                  <a:pt x="304800" y="390684"/>
                  <a:pt x="304800" y="355600"/>
                </a:cubicBezTo>
                <a:close/>
                <a:moveTo>
                  <a:pt x="241300" y="184150"/>
                </a:moveTo>
                <a:cubicBezTo>
                  <a:pt x="251814" y="184150"/>
                  <a:pt x="260350" y="192686"/>
                  <a:pt x="260350" y="203200"/>
                </a:cubicBezTo>
                <a:cubicBezTo>
                  <a:pt x="260350" y="213714"/>
                  <a:pt x="251814" y="222250"/>
                  <a:pt x="241300" y="222250"/>
                </a:cubicBezTo>
                <a:cubicBezTo>
                  <a:pt x="230786" y="222250"/>
                  <a:pt x="222250" y="213714"/>
                  <a:pt x="222250" y="203200"/>
                </a:cubicBezTo>
                <a:cubicBezTo>
                  <a:pt x="222250" y="192686"/>
                  <a:pt x="230786" y="184150"/>
                  <a:pt x="241300" y="184150"/>
                </a:cubicBezTo>
                <a:close/>
                <a:moveTo>
                  <a:pt x="241300" y="266700"/>
                </a:moveTo>
                <a:cubicBezTo>
                  <a:pt x="276347" y="266700"/>
                  <a:pt x="304800" y="238247"/>
                  <a:pt x="304800" y="203200"/>
                </a:cubicBezTo>
                <a:cubicBezTo>
                  <a:pt x="304800" y="168153"/>
                  <a:pt x="276347" y="139700"/>
                  <a:pt x="241300" y="139700"/>
                </a:cubicBezTo>
                <a:cubicBezTo>
                  <a:pt x="206253" y="139700"/>
                  <a:pt x="177800" y="168153"/>
                  <a:pt x="177800" y="203200"/>
                </a:cubicBezTo>
                <a:cubicBezTo>
                  <a:pt x="177800" y="238247"/>
                  <a:pt x="206253" y="266700"/>
                  <a:pt x="241300" y="266700"/>
                </a:cubicBezTo>
                <a:close/>
                <a:moveTo>
                  <a:pt x="241300" y="114300"/>
                </a:moveTo>
                <a:cubicBezTo>
                  <a:pt x="276347" y="114300"/>
                  <a:pt x="304800" y="85847"/>
                  <a:pt x="304800" y="50800"/>
                </a:cubicBezTo>
                <a:cubicBezTo>
                  <a:pt x="304800" y="15753"/>
                  <a:pt x="276347" y="-12700"/>
                  <a:pt x="241300" y="-12700"/>
                </a:cubicBezTo>
                <a:cubicBezTo>
                  <a:pt x="206253" y="-12700"/>
                  <a:pt x="177800" y="15753"/>
                  <a:pt x="177800" y="50800"/>
                </a:cubicBezTo>
                <a:cubicBezTo>
                  <a:pt x="177800" y="85847"/>
                  <a:pt x="206253" y="114300"/>
                  <a:pt x="241300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8CB50D-21C0-CF7B-C52D-043C89BA79F9}"/>
              </a:ext>
            </a:extLst>
          </p:cNvPr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Scatterplot Analysis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D33B55-DEA3-F26B-50F9-004C8834462E}"/>
              </a:ext>
            </a:extLst>
          </p:cNvPr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DEAEC62-0A35-B2AA-1A82-3AB55E744635}"/>
              </a:ext>
            </a:extLst>
          </p:cNvPr>
          <p:cNvSpPr/>
          <p:nvPr/>
        </p:nvSpPr>
        <p:spPr>
          <a:xfrm>
            <a:off x="9144000" y="10668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2D430F9-2BA9-19C9-31C5-0DAECF5D50EC}"/>
              </a:ext>
            </a:extLst>
          </p:cNvPr>
          <p:cNvSpPr/>
          <p:nvPr/>
        </p:nvSpPr>
        <p:spPr>
          <a:xfrm>
            <a:off x="9144000" y="1574800"/>
            <a:ext cx="635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4779A2A-3DAA-51B1-7274-74405A0FD743}"/>
              </a:ext>
            </a:extLst>
          </p:cNvPr>
          <p:cNvSpPr/>
          <p:nvPr/>
        </p:nvSpPr>
        <p:spPr>
          <a:xfrm>
            <a:off x="9121775" y="1905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5AAB69E-CB6E-29B9-55A8-B34DF063843F}"/>
              </a:ext>
            </a:extLst>
          </p:cNvPr>
          <p:cNvSpPr/>
          <p:nvPr/>
        </p:nvSpPr>
        <p:spPr>
          <a:xfrm>
            <a:off x="9652000" y="1828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vs Exam Score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FD038E2-35EE-AA66-0896-ABBD4E0D8174}"/>
              </a:ext>
            </a:extLst>
          </p:cNvPr>
          <p:cNvSpPr/>
          <p:nvPr/>
        </p:nvSpPr>
        <p:spPr>
          <a:xfrm>
            <a:off x="9652000" y="2336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relationship observed between attendance and exam performance.</a:t>
            </a:r>
            <a:endParaRPr lang="en-US" sz="16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3E5E069-F534-6409-82E6-F713E7AF7ABC}"/>
              </a:ext>
            </a:extLst>
          </p:cNvPr>
          <p:cNvSpPr/>
          <p:nvPr/>
        </p:nvSpPr>
        <p:spPr>
          <a:xfrm>
            <a:off x="9121775" y="342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109A7AE-463D-FAD2-B507-16507C1A330D}"/>
              </a:ext>
            </a:extLst>
          </p:cNvPr>
          <p:cNvSpPr/>
          <p:nvPr/>
        </p:nvSpPr>
        <p:spPr>
          <a:xfrm>
            <a:off x="9652000" y="3352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Hours vs Performance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28169C8-7094-8AA3-B6E9-C67002B1DBE6}"/>
              </a:ext>
            </a:extLst>
          </p:cNvPr>
          <p:cNvSpPr/>
          <p:nvPr/>
        </p:nvSpPr>
        <p:spPr>
          <a:xfrm>
            <a:off x="9652000" y="3860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hours show the strongest association with exam outcomes.</a:t>
            </a:r>
            <a:endParaRPr lang="en-US" sz="16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196A8B5-622B-CE67-264A-9C0D954B5F99}"/>
              </a:ext>
            </a:extLst>
          </p:cNvPr>
          <p:cNvSpPr/>
          <p:nvPr/>
        </p:nvSpPr>
        <p:spPr>
          <a:xfrm>
            <a:off x="9121775" y="495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6A9B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9AAC8FD-3106-FF50-F9B2-8968C9DA6D73}"/>
              </a:ext>
            </a:extLst>
          </p:cNvPr>
          <p:cNvSpPr/>
          <p:nvPr/>
        </p:nvSpPr>
        <p:spPr>
          <a:xfrm>
            <a:off x="9652000" y="4876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A9B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Previous Scores vs Outcome</a:t>
            </a:r>
            <a:endParaRPr lang="en-US" sz="1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E72818D-FD06-BED8-495C-EAFBEEA5ACB6}"/>
              </a:ext>
            </a:extLst>
          </p:cNvPr>
          <p:cNvSpPr/>
          <p:nvPr/>
        </p:nvSpPr>
        <p:spPr>
          <a:xfrm>
            <a:off x="9652000" y="5384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Previous scores moderately related to current exam results.</a:t>
            </a:r>
            <a:endParaRPr lang="en-US" sz="16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36181D7-8113-910F-A758-F1441BAC1C51}"/>
              </a:ext>
            </a:extLst>
          </p:cNvPr>
          <p:cNvSpPr/>
          <p:nvPr/>
        </p:nvSpPr>
        <p:spPr>
          <a:xfrm>
            <a:off x="9144000" y="6604000"/>
            <a:ext cx="6350000" cy="9398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91CF625-E956-1A67-E568-209D710C8420}"/>
              </a:ext>
            </a:extLst>
          </p:cNvPr>
          <p:cNvSpPr/>
          <p:nvPr/>
        </p:nvSpPr>
        <p:spPr>
          <a:xfrm>
            <a:off x="9398000" y="6731000"/>
            <a:ext cx="584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r>
              <a:rPr lang="en-US" sz="16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three predictors show positive linear trends with exam scores.</a:t>
            </a:r>
            <a:endParaRPr lang="en-US" sz="16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8C9E92D-1FAF-125B-BD70-0148B0D53B6F}"/>
              </a:ext>
            </a:extLst>
          </p:cNvPr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0A6D79-4B8E-29B1-C5AB-4CF312C52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9" y="1295400"/>
            <a:ext cx="6349999" cy="748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528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0DEC3-C803-D383-1970-364EF37C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6A26A3-5EEA-8907-190D-B3E33D38A211}"/>
              </a:ext>
            </a:extLst>
          </p:cNvPr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314F17-11CD-EA60-C71C-519850D3636D}"/>
              </a:ext>
            </a:extLst>
          </p:cNvPr>
          <p:cNvSpPr/>
          <p:nvPr/>
        </p:nvSpPr>
        <p:spPr>
          <a:xfrm>
            <a:off x="355600" y="1778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63500" y="114300"/>
                </a:moveTo>
                <a:cubicBezTo>
                  <a:pt x="98547" y="114300"/>
                  <a:pt x="127000" y="85847"/>
                  <a:pt x="127000" y="50800"/>
                </a:cubicBezTo>
                <a:cubicBezTo>
                  <a:pt x="127000" y="15753"/>
                  <a:pt x="98547" y="-12700"/>
                  <a:pt x="63500" y="-12700"/>
                </a:cubicBezTo>
                <a:cubicBezTo>
                  <a:pt x="28453" y="-12700"/>
                  <a:pt x="0" y="15753"/>
                  <a:pt x="0" y="50800"/>
                </a:cubicBezTo>
                <a:cubicBezTo>
                  <a:pt x="0" y="85847"/>
                  <a:pt x="28453" y="114300"/>
                  <a:pt x="63500" y="114300"/>
                </a:cubicBezTo>
                <a:close/>
                <a:moveTo>
                  <a:pt x="63500" y="266700"/>
                </a:moveTo>
                <a:cubicBezTo>
                  <a:pt x="98547" y="266700"/>
                  <a:pt x="127000" y="238247"/>
                  <a:pt x="127000" y="203200"/>
                </a:cubicBezTo>
                <a:cubicBezTo>
                  <a:pt x="127000" y="168153"/>
                  <a:pt x="98547" y="139700"/>
                  <a:pt x="63500" y="139700"/>
                </a:cubicBezTo>
                <a:cubicBezTo>
                  <a:pt x="28453" y="139700"/>
                  <a:pt x="0" y="168153"/>
                  <a:pt x="0" y="203200"/>
                </a:cubicBezTo>
                <a:cubicBezTo>
                  <a:pt x="0" y="238247"/>
                  <a:pt x="28453" y="266700"/>
                  <a:pt x="63500" y="266700"/>
                </a:cubicBezTo>
                <a:close/>
                <a:moveTo>
                  <a:pt x="63500" y="374650"/>
                </a:moveTo>
                <a:cubicBezTo>
                  <a:pt x="52943" y="374650"/>
                  <a:pt x="44450" y="366157"/>
                  <a:pt x="44450" y="355600"/>
                </a:cubicBezTo>
                <a:cubicBezTo>
                  <a:pt x="44450" y="345043"/>
                  <a:pt x="52943" y="336550"/>
                  <a:pt x="63500" y="336550"/>
                </a:cubicBezTo>
                <a:cubicBezTo>
                  <a:pt x="74057" y="336550"/>
                  <a:pt x="82550" y="345043"/>
                  <a:pt x="82550" y="355600"/>
                </a:cubicBezTo>
                <a:cubicBezTo>
                  <a:pt x="82550" y="366157"/>
                  <a:pt x="74057" y="374650"/>
                  <a:pt x="63500" y="374650"/>
                </a:cubicBezTo>
                <a:close/>
                <a:moveTo>
                  <a:pt x="63500" y="419100"/>
                </a:moveTo>
                <a:cubicBezTo>
                  <a:pt x="98584" y="419100"/>
                  <a:pt x="127000" y="390684"/>
                  <a:pt x="127000" y="355600"/>
                </a:cubicBezTo>
                <a:cubicBezTo>
                  <a:pt x="127000" y="320516"/>
                  <a:pt x="98584" y="292100"/>
                  <a:pt x="63500" y="292100"/>
                </a:cubicBezTo>
                <a:cubicBezTo>
                  <a:pt x="28416" y="292100"/>
                  <a:pt x="0" y="320516"/>
                  <a:pt x="0" y="355600"/>
                </a:cubicBezTo>
                <a:cubicBezTo>
                  <a:pt x="0" y="390684"/>
                  <a:pt x="28416" y="419100"/>
                  <a:pt x="63500" y="419100"/>
                </a:cubicBezTo>
                <a:close/>
                <a:moveTo>
                  <a:pt x="260350" y="355600"/>
                </a:moveTo>
                <a:cubicBezTo>
                  <a:pt x="260350" y="366157"/>
                  <a:pt x="251857" y="374650"/>
                  <a:pt x="241300" y="374650"/>
                </a:cubicBezTo>
                <a:cubicBezTo>
                  <a:pt x="230743" y="374650"/>
                  <a:pt x="222250" y="366157"/>
                  <a:pt x="222250" y="355600"/>
                </a:cubicBezTo>
                <a:cubicBezTo>
                  <a:pt x="222250" y="345043"/>
                  <a:pt x="230743" y="336550"/>
                  <a:pt x="241300" y="336550"/>
                </a:cubicBezTo>
                <a:cubicBezTo>
                  <a:pt x="251857" y="336550"/>
                  <a:pt x="260350" y="345043"/>
                  <a:pt x="260350" y="355600"/>
                </a:cubicBezTo>
                <a:close/>
                <a:moveTo>
                  <a:pt x="304800" y="355600"/>
                </a:moveTo>
                <a:cubicBezTo>
                  <a:pt x="304800" y="320516"/>
                  <a:pt x="276384" y="292100"/>
                  <a:pt x="241300" y="292100"/>
                </a:cubicBezTo>
                <a:cubicBezTo>
                  <a:pt x="206216" y="292100"/>
                  <a:pt x="177800" y="320516"/>
                  <a:pt x="177800" y="355600"/>
                </a:cubicBezTo>
                <a:cubicBezTo>
                  <a:pt x="177800" y="390684"/>
                  <a:pt x="206216" y="419100"/>
                  <a:pt x="241300" y="419100"/>
                </a:cubicBezTo>
                <a:cubicBezTo>
                  <a:pt x="276384" y="419100"/>
                  <a:pt x="304800" y="390684"/>
                  <a:pt x="304800" y="355600"/>
                </a:cubicBezTo>
                <a:close/>
                <a:moveTo>
                  <a:pt x="241300" y="184150"/>
                </a:moveTo>
                <a:cubicBezTo>
                  <a:pt x="251814" y="184150"/>
                  <a:pt x="260350" y="192686"/>
                  <a:pt x="260350" y="203200"/>
                </a:cubicBezTo>
                <a:cubicBezTo>
                  <a:pt x="260350" y="213714"/>
                  <a:pt x="251814" y="222250"/>
                  <a:pt x="241300" y="222250"/>
                </a:cubicBezTo>
                <a:cubicBezTo>
                  <a:pt x="230786" y="222250"/>
                  <a:pt x="222250" y="213714"/>
                  <a:pt x="222250" y="203200"/>
                </a:cubicBezTo>
                <a:cubicBezTo>
                  <a:pt x="222250" y="192686"/>
                  <a:pt x="230786" y="184150"/>
                  <a:pt x="241300" y="184150"/>
                </a:cubicBezTo>
                <a:close/>
                <a:moveTo>
                  <a:pt x="241300" y="266700"/>
                </a:moveTo>
                <a:cubicBezTo>
                  <a:pt x="276347" y="266700"/>
                  <a:pt x="304800" y="238247"/>
                  <a:pt x="304800" y="203200"/>
                </a:cubicBezTo>
                <a:cubicBezTo>
                  <a:pt x="304800" y="168153"/>
                  <a:pt x="276347" y="139700"/>
                  <a:pt x="241300" y="139700"/>
                </a:cubicBezTo>
                <a:cubicBezTo>
                  <a:pt x="206253" y="139700"/>
                  <a:pt x="177800" y="168153"/>
                  <a:pt x="177800" y="203200"/>
                </a:cubicBezTo>
                <a:cubicBezTo>
                  <a:pt x="177800" y="238247"/>
                  <a:pt x="206253" y="266700"/>
                  <a:pt x="241300" y="266700"/>
                </a:cubicBezTo>
                <a:close/>
                <a:moveTo>
                  <a:pt x="241300" y="114300"/>
                </a:moveTo>
                <a:cubicBezTo>
                  <a:pt x="276347" y="114300"/>
                  <a:pt x="304800" y="85847"/>
                  <a:pt x="304800" y="50800"/>
                </a:cubicBezTo>
                <a:cubicBezTo>
                  <a:pt x="304800" y="15753"/>
                  <a:pt x="276347" y="-12700"/>
                  <a:pt x="241300" y="-12700"/>
                </a:cubicBezTo>
                <a:cubicBezTo>
                  <a:pt x="206253" y="-12700"/>
                  <a:pt x="177800" y="15753"/>
                  <a:pt x="177800" y="50800"/>
                </a:cubicBezTo>
                <a:cubicBezTo>
                  <a:pt x="177800" y="85847"/>
                  <a:pt x="206253" y="114300"/>
                  <a:pt x="241300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9F95FD-1017-F03E-483A-337CDF8B33BC}"/>
              </a:ext>
            </a:extLst>
          </p:cNvPr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Scatterplot Analysis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534A4D-3086-FFB8-3DD5-8B5524CA4DEE}"/>
              </a:ext>
            </a:extLst>
          </p:cNvPr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85C254C-B144-E574-19AC-FE74056FB8F2}"/>
              </a:ext>
            </a:extLst>
          </p:cNvPr>
          <p:cNvSpPr/>
          <p:nvPr/>
        </p:nvSpPr>
        <p:spPr>
          <a:xfrm>
            <a:off x="9144000" y="10668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33EF9B0-E6D5-E868-5DE3-0ADECCB29BEF}"/>
              </a:ext>
            </a:extLst>
          </p:cNvPr>
          <p:cNvSpPr/>
          <p:nvPr/>
        </p:nvSpPr>
        <p:spPr>
          <a:xfrm>
            <a:off x="9144000" y="1574800"/>
            <a:ext cx="635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48BFC63-3A8F-1652-DFF1-E8024DDA3D70}"/>
              </a:ext>
            </a:extLst>
          </p:cNvPr>
          <p:cNvSpPr/>
          <p:nvPr/>
        </p:nvSpPr>
        <p:spPr>
          <a:xfrm>
            <a:off x="9121775" y="1905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D9B9B56-BBA4-9F41-A081-A4C2BA0E3C5A}"/>
              </a:ext>
            </a:extLst>
          </p:cNvPr>
          <p:cNvSpPr/>
          <p:nvPr/>
        </p:nvSpPr>
        <p:spPr>
          <a:xfrm>
            <a:off x="9652000" y="1828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 vs Exam Score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E2660EB-8F4F-55F7-7C1A-E3FFF4DCD083}"/>
              </a:ext>
            </a:extLst>
          </p:cNvPr>
          <p:cNvSpPr/>
          <p:nvPr/>
        </p:nvSpPr>
        <p:spPr>
          <a:xfrm>
            <a:off x="9652000" y="2336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relationship observed between attendance and exam performance.</a:t>
            </a:r>
            <a:endParaRPr lang="en-US" sz="16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B6B0A7E-2AC0-A919-A859-45D883180295}"/>
              </a:ext>
            </a:extLst>
          </p:cNvPr>
          <p:cNvSpPr/>
          <p:nvPr/>
        </p:nvSpPr>
        <p:spPr>
          <a:xfrm>
            <a:off x="9121775" y="342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8921900-C68F-9B40-C6D4-C12A862E7358}"/>
              </a:ext>
            </a:extLst>
          </p:cNvPr>
          <p:cNvSpPr/>
          <p:nvPr/>
        </p:nvSpPr>
        <p:spPr>
          <a:xfrm>
            <a:off x="9652000" y="3352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Hours vs Performance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0CEBFDB-8F0B-5741-D141-F3D11DA5D9EA}"/>
              </a:ext>
            </a:extLst>
          </p:cNvPr>
          <p:cNvSpPr/>
          <p:nvPr/>
        </p:nvSpPr>
        <p:spPr>
          <a:xfrm>
            <a:off x="9652000" y="3860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hours show the strongest association with exam outcomes.</a:t>
            </a:r>
            <a:endParaRPr lang="en-US" sz="16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CEB9605-E6C4-C168-E1E7-9669EE2C9C47}"/>
              </a:ext>
            </a:extLst>
          </p:cNvPr>
          <p:cNvSpPr/>
          <p:nvPr/>
        </p:nvSpPr>
        <p:spPr>
          <a:xfrm>
            <a:off x="9121775" y="495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6A9B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446A309-33F8-5384-BABE-112FA0BC2B69}"/>
              </a:ext>
            </a:extLst>
          </p:cNvPr>
          <p:cNvSpPr/>
          <p:nvPr/>
        </p:nvSpPr>
        <p:spPr>
          <a:xfrm>
            <a:off x="9652000" y="4876800"/>
            <a:ext cx="584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A9B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Previous Scores vs Outcome</a:t>
            </a:r>
            <a:endParaRPr lang="en-US" sz="1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B18FFCE-4D8E-D3A7-F1B8-F5E11BDD8D56}"/>
              </a:ext>
            </a:extLst>
          </p:cNvPr>
          <p:cNvSpPr/>
          <p:nvPr/>
        </p:nvSpPr>
        <p:spPr>
          <a:xfrm>
            <a:off x="9652000" y="5384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Previous scores moderately related to current exam results.</a:t>
            </a:r>
            <a:endParaRPr lang="en-US" sz="16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5691348-234B-E51D-AF88-DF54B7E77D93}"/>
              </a:ext>
            </a:extLst>
          </p:cNvPr>
          <p:cNvSpPr/>
          <p:nvPr/>
        </p:nvSpPr>
        <p:spPr>
          <a:xfrm>
            <a:off x="9144000" y="6604000"/>
            <a:ext cx="6350000" cy="9398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CF1A9ED-F4FC-E1B2-CB97-884DA2D26E7B}"/>
              </a:ext>
            </a:extLst>
          </p:cNvPr>
          <p:cNvSpPr/>
          <p:nvPr/>
        </p:nvSpPr>
        <p:spPr>
          <a:xfrm>
            <a:off x="9398000" y="6731000"/>
            <a:ext cx="584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r>
              <a:rPr lang="en-US" sz="1600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three predictors show positive linear trends with exam scores.</a:t>
            </a:r>
            <a:endParaRPr lang="en-US" sz="16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91F4DB3-12AA-C505-8B6C-7AE00D3F0AD7}"/>
              </a:ext>
            </a:extLst>
          </p:cNvPr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AC4A0E-8EF0-E058-00E1-3C7C55991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035094"/>
            <a:ext cx="6350000" cy="748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9077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0" y="10668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Results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0" y="1574800"/>
            <a:ext cx="635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1778000"/>
          <a:ext cx="6350000" cy="35560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Correlation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Attendance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0.58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Hours Studied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Previous Scores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0.18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Tutoring Sessions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0.16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Physical Activity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Sleep Hours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-0.02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144000" y="5715000"/>
            <a:ext cx="6350000" cy="1524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398000" y="5842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Attendance has the strongest correlation (0.58) with exam scores. Sleep hours show minimal relationship (-0.02).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D3B308-A820-EB01-7A16-75EBD675FA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27" r="13313"/>
          <a:stretch>
            <a:fillRect/>
          </a:stretch>
        </p:blipFill>
        <p:spPr>
          <a:xfrm>
            <a:off x="736600" y="1574800"/>
            <a:ext cx="6743337" cy="593413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066800"/>
            <a:ext cx="14732000" cy="14605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6800" y="114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 Equation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549400"/>
            <a:ext cx="14122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Exam_Score = </a:t>
            </a: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40.82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+ 0.291(Hours_Studied) + 0.198(Attendance) + 0.048(Previous_Scores) + 0.494(Tutoring_Sessions) + 0.136(Physical_Activity)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590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Statistics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175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2000" y="32512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0.5937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191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R-squared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42000" y="3175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  <a:effectLst>
            <a:outerShdw blurRad="76200" dist="25400" dir="5400000" algn="bl" rotWithShape="0">
              <a:srgbClr val="E07B54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42000" y="32512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0.5934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0" y="4191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Adjusted R-squared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3175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22000" y="3251200"/>
            <a:ext cx="457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.001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22000" y="4191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p-value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2832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Predictors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791200"/>
            <a:ext cx="14732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2000" y="6045200"/>
            <a:ext cx="4572000" cy="101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41400" y="6299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0"/>
                </a:moveTo>
                <a:cubicBezTo>
                  <a:pt x="115649" y="0"/>
                  <a:pt x="127000" y="11351"/>
                  <a:pt x="127000" y="25400"/>
                </a:cubicBezTo>
                <a:lnTo>
                  <a:pt x="127000" y="50800"/>
                </a:lnTo>
                <a:lnTo>
                  <a:pt x="228600" y="50800"/>
                </a:lnTo>
                <a:lnTo>
                  <a:pt x="228600" y="25400"/>
                </a:lnTo>
                <a:cubicBezTo>
                  <a:pt x="228600" y="11351"/>
                  <a:pt x="239951" y="0"/>
                  <a:pt x="254000" y="0"/>
                </a:cubicBezTo>
                <a:cubicBezTo>
                  <a:pt x="268049" y="0"/>
                  <a:pt x="279400" y="11351"/>
                  <a:pt x="279400" y="25400"/>
                </a:cubicBezTo>
                <a:lnTo>
                  <a:pt x="279400" y="50800"/>
                </a:lnTo>
                <a:lnTo>
                  <a:pt x="304800" y="50800"/>
                </a:lnTo>
                <a:cubicBezTo>
                  <a:pt x="332819" y="50800"/>
                  <a:pt x="355600" y="73581"/>
                  <a:pt x="355600" y="1016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101600"/>
                </a:lnTo>
                <a:cubicBezTo>
                  <a:pt x="0" y="73581"/>
                  <a:pt x="22781" y="50800"/>
                  <a:pt x="50800" y="50800"/>
                </a:cubicBezTo>
                <a:lnTo>
                  <a:pt x="76200" y="50800"/>
                </a:lnTo>
                <a:lnTo>
                  <a:pt x="76200" y="25400"/>
                </a:lnTo>
                <a:cubicBezTo>
                  <a:pt x="76200" y="11351"/>
                  <a:pt x="87551" y="0"/>
                  <a:pt x="101600" y="0"/>
                </a:cubicBezTo>
                <a:close/>
                <a:moveTo>
                  <a:pt x="244793" y="181531"/>
                </a:moveTo>
                <a:cubicBezTo>
                  <a:pt x="250349" y="172641"/>
                  <a:pt x="247650" y="160893"/>
                  <a:pt x="238760" y="155258"/>
                </a:cubicBezTo>
                <a:cubicBezTo>
                  <a:pt x="229870" y="149622"/>
                  <a:pt x="218122" y="152400"/>
                  <a:pt x="212487" y="161290"/>
                </a:cubicBezTo>
                <a:lnTo>
                  <a:pt x="163751" y="239316"/>
                </a:lnTo>
                <a:lnTo>
                  <a:pt x="142319" y="210741"/>
                </a:lnTo>
                <a:cubicBezTo>
                  <a:pt x="135969" y="202327"/>
                  <a:pt x="124063" y="200581"/>
                  <a:pt x="115649" y="206931"/>
                </a:cubicBezTo>
                <a:cubicBezTo>
                  <a:pt x="107236" y="213281"/>
                  <a:pt x="105489" y="225187"/>
                  <a:pt x="111839" y="233601"/>
                </a:cubicBezTo>
                <a:lnTo>
                  <a:pt x="149939" y="284401"/>
                </a:lnTo>
                <a:cubicBezTo>
                  <a:pt x="153670" y="289401"/>
                  <a:pt x="159702" y="292259"/>
                  <a:pt x="165973" y="292021"/>
                </a:cubicBezTo>
                <a:cubicBezTo>
                  <a:pt x="172244" y="291783"/>
                  <a:pt x="177959" y="288449"/>
                  <a:pt x="181292" y="283051"/>
                </a:cubicBezTo>
                <a:lnTo>
                  <a:pt x="244792" y="181451"/>
                </a:ln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74800" y="6045200"/>
            <a:ext cx="355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42000" y="6045200"/>
            <a:ext cx="4572000" cy="101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1400" y="6299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406400"/>
                </a:moveTo>
                <a:lnTo>
                  <a:pt x="76200" y="406400"/>
                </a:lnTo>
                <a:cubicBezTo>
                  <a:pt x="34131" y="406400"/>
                  <a:pt x="0" y="372269"/>
                  <a:pt x="0" y="330200"/>
                </a:cubicBezTo>
                <a:lnTo>
                  <a:pt x="0" y="76200"/>
                </a:lnTo>
                <a:cubicBezTo>
                  <a:pt x="0" y="34131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7066"/>
                  <a:pt x="355600" y="38100"/>
                </a:cubicBezTo>
                <a:lnTo>
                  <a:pt x="355600" y="266700"/>
                </a:lnTo>
                <a:cubicBezTo>
                  <a:pt x="355600" y="283289"/>
                  <a:pt x="344964" y="297418"/>
                  <a:pt x="330200" y="302657"/>
                </a:cubicBezTo>
                <a:lnTo>
                  <a:pt x="330200" y="355600"/>
                </a:lnTo>
                <a:cubicBezTo>
                  <a:pt x="344249" y="355600"/>
                  <a:pt x="355600" y="366951"/>
                  <a:pt x="355600" y="381000"/>
                </a:cubicBezTo>
                <a:cubicBezTo>
                  <a:pt x="355600" y="395049"/>
                  <a:pt x="344249" y="406400"/>
                  <a:pt x="330200" y="406400"/>
                </a:cubicBezTo>
                <a:lnTo>
                  <a:pt x="304800" y="406400"/>
                </a:lnTo>
                <a:close/>
                <a:moveTo>
                  <a:pt x="76200" y="304800"/>
                </a:moveTo>
                <a:cubicBezTo>
                  <a:pt x="62151" y="304800"/>
                  <a:pt x="50800" y="316151"/>
                  <a:pt x="50800" y="330200"/>
                </a:cubicBezTo>
                <a:cubicBezTo>
                  <a:pt x="50800" y="344249"/>
                  <a:pt x="62151" y="355600"/>
                  <a:pt x="76200" y="355600"/>
                </a:cubicBezTo>
                <a:lnTo>
                  <a:pt x="279400" y="355600"/>
                </a:lnTo>
                <a:lnTo>
                  <a:pt x="279400" y="304800"/>
                </a:lnTo>
                <a:lnTo>
                  <a:pt x="76200" y="304800"/>
                </a:lnTo>
                <a:close/>
                <a:moveTo>
                  <a:pt x="101600" y="120650"/>
                </a:moveTo>
                <a:cubicBezTo>
                  <a:pt x="101600" y="131207"/>
                  <a:pt x="110093" y="139700"/>
                  <a:pt x="120650" y="139700"/>
                </a:cubicBezTo>
                <a:lnTo>
                  <a:pt x="260350" y="139700"/>
                </a:lnTo>
                <a:cubicBezTo>
                  <a:pt x="270907" y="139700"/>
                  <a:pt x="279400" y="131207"/>
                  <a:pt x="279400" y="120650"/>
                </a:cubicBezTo>
                <a:cubicBezTo>
                  <a:pt x="279400" y="110093"/>
                  <a:pt x="270907" y="101600"/>
                  <a:pt x="260350" y="101600"/>
                </a:cubicBezTo>
                <a:lnTo>
                  <a:pt x="120650" y="101600"/>
                </a:lnTo>
                <a:cubicBezTo>
                  <a:pt x="110093" y="101600"/>
                  <a:pt x="101600" y="110093"/>
                  <a:pt x="101600" y="120650"/>
                </a:cubicBezTo>
                <a:close/>
                <a:moveTo>
                  <a:pt x="120650" y="177800"/>
                </a:moveTo>
                <a:cubicBezTo>
                  <a:pt x="110093" y="177800"/>
                  <a:pt x="101600" y="186293"/>
                  <a:pt x="101600" y="196850"/>
                </a:cubicBezTo>
                <a:cubicBezTo>
                  <a:pt x="101600" y="207407"/>
                  <a:pt x="110093" y="215900"/>
                  <a:pt x="120650" y="215900"/>
                </a:cubicBezTo>
                <a:lnTo>
                  <a:pt x="260350" y="215900"/>
                </a:lnTo>
                <a:cubicBezTo>
                  <a:pt x="270907" y="215900"/>
                  <a:pt x="279400" y="207407"/>
                  <a:pt x="279400" y="196850"/>
                </a:cubicBezTo>
                <a:cubicBezTo>
                  <a:pt x="279400" y="186293"/>
                  <a:pt x="270907" y="177800"/>
                  <a:pt x="260350" y="177800"/>
                </a:cubicBezTo>
                <a:lnTo>
                  <a:pt x="120650" y="177800"/>
                </a:ln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54800" y="6045200"/>
            <a:ext cx="355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Hours Studied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22000" y="6045200"/>
            <a:ext cx="4572000" cy="101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125200" y="62992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1600" y="76200"/>
                </a:moveTo>
                <a:cubicBezTo>
                  <a:pt x="101600" y="48181"/>
                  <a:pt x="124381" y="25400"/>
                  <a:pt x="152400" y="25400"/>
                </a:cubicBezTo>
                <a:lnTo>
                  <a:pt x="431800" y="25400"/>
                </a:lnTo>
                <a:cubicBezTo>
                  <a:pt x="459819" y="25400"/>
                  <a:pt x="482600" y="48181"/>
                  <a:pt x="482600" y="76200"/>
                </a:cubicBezTo>
                <a:lnTo>
                  <a:pt x="482600" y="266700"/>
                </a:lnTo>
                <a:lnTo>
                  <a:pt x="406400" y="266700"/>
                </a:lnTo>
                <a:lnTo>
                  <a:pt x="406400" y="254000"/>
                </a:lnTo>
                <a:cubicBezTo>
                  <a:pt x="406400" y="239951"/>
                  <a:pt x="395049" y="228600"/>
                  <a:pt x="381000" y="228600"/>
                </a:cubicBezTo>
                <a:lnTo>
                  <a:pt x="330200" y="228600"/>
                </a:lnTo>
                <a:cubicBezTo>
                  <a:pt x="316151" y="228600"/>
                  <a:pt x="304800" y="239951"/>
                  <a:pt x="304800" y="254000"/>
                </a:cubicBezTo>
                <a:lnTo>
                  <a:pt x="304800" y="266700"/>
                </a:lnTo>
                <a:lnTo>
                  <a:pt x="202327" y="266700"/>
                </a:lnTo>
                <a:cubicBezTo>
                  <a:pt x="210979" y="251777"/>
                  <a:pt x="215900" y="234394"/>
                  <a:pt x="215900" y="215900"/>
                </a:cubicBezTo>
                <a:cubicBezTo>
                  <a:pt x="215900" y="159782"/>
                  <a:pt x="170418" y="114300"/>
                  <a:pt x="114300" y="114300"/>
                </a:cubicBezTo>
                <a:cubicBezTo>
                  <a:pt x="110014" y="114300"/>
                  <a:pt x="105727" y="114538"/>
                  <a:pt x="101600" y="115094"/>
                </a:cubicBezTo>
                <a:lnTo>
                  <a:pt x="101600" y="76200"/>
                </a:lnTo>
                <a:close/>
                <a:moveTo>
                  <a:pt x="264319" y="355600"/>
                </a:moveTo>
                <a:cubicBezTo>
                  <a:pt x="260271" y="336391"/>
                  <a:pt x="251381" y="319008"/>
                  <a:pt x="238839" y="304800"/>
                </a:cubicBezTo>
                <a:lnTo>
                  <a:pt x="482600" y="304800"/>
                </a:lnTo>
                <a:cubicBezTo>
                  <a:pt x="482600" y="332819"/>
                  <a:pt x="459819" y="355600"/>
                  <a:pt x="431800" y="355600"/>
                </a:cubicBezTo>
                <a:lnTo>
                  <a:pt x="264319" y="355600"/>
                </a:lnTo>
                <a:close/>
                <a:moveTo>
                  <a:pt x="50800" y="215900"/>
                </a:moveTo>
                <a:cubicBezTo>
                  <a:pt x="50800" y="180853"/>
                  <a:pt x="79253" y="152400"/>
                  <a:pt x="114300" y="152400"/>
                </a:cubicBezTo>
                <a:cubicBezTo>
                  <a:pt x="149347" y="152400"/>
                  <a:pt x="177800" y="180853"/>
                  <a:pt x="177800" y="215900"/>
                </a:cubicBezTo>
                <a:cubicBezTo>
                  <a:pt x="177800" y="250947"/>
                  <a:pt x="149347" y="279400"/>
                  <a:pt x="114300" y="279400"/>
                </a:cubicBezTo>
                <a:cubicBezTo>
                  <a:pt x="79253" y="279400"/>
                  <a:pt x="50800" y="250947"/>
                  <a:pt x="50800" y="215900"/>
                </a:cubicBezTo>
                <a:close/>
                <a:moveTo>
                  <a:pt x="0" y="381000"/>
                </a:moveTo>
                <a:cubicBezTo>
                  <a:pt x="0" y="338931"/>
                  <a:pt x="34131" y="304800"/>
                  <a:pt x="76200" y="304800"/>
                </a:cubicBezTo>
                <a:lnTo>
                  <a:pt x="152400" y="304800"/>
                </a:lnTo>
                <a:cubicBezTo>
                  <a:pt x="194469" y="304800"/>
                  <a:pt x="228600" y="338931"/>
                  <a:pt x="228600" y="381000"/>
                </a:cubicBezTo>
                <a:cubicBezTo>
                  <a:pt x="228600" y="395049"/>
                  <a:pt x="217249" y="406400"/>
                  <a:pt x="203200" y="406400"/>
                </a:cubicBezTo>
                <a:lnTo>
                  <a:pt x="25400" y="406400"/>
                </a:lnTo>
                <a:cubicBezTo>
                  <a:pt x="11351" y="406400"/>
                  <a:pt x="0" y="395049"/>
                  <a:pt x="0" y="381000"/>
                </a:cubicBezTo>
                <a:close/>
              </a:path>
            </a:pathLst>
          </a:cu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734800" y="6045200"/>
            <a:ext cx="355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Tutoring Sessions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Multicollinearity Test (VIF)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7620000" cy="3810001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7124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VIF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124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Hours Studied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1.0006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124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Attendance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1.0010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124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Previous Scores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1.0010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124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Tutoring Sessions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1.0007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381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Physical Activity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1.0009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0" y="1270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0" y="1778000"/>
            <a:ext cx="635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144000" y="2082800"/>
            <a:ext cx="6350000" cy="25400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12700">
            <a:solidFill>
              <a:srgbClr val="2C5F8A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448800" y="2286000"/>
            <a:ext cx="57404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VIF Rule of Thumb: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VIF = 1: No correlation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VIF &lt; 5: Low multicollinearity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 VIF &gt; 10: High multicollinearity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55880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4CAF50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66800" y="5994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778000" y="5791200"/>
            <a:ext cx="134112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Conclusion:</a:t>
            </a: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VIF values are close to 1 (range: 1.0006 - 1.0010). No multicollinearity issue detected. The regression model predictors are independent.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AE32-B329-D831-348A-9EAC68D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1A0602-2872-BC56-5EB2-32A9D065CA8E}"/>
              </a:ext>
            </a:extLst>
          </p:cNvPr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C8D0D4-6802-E5B6-1804-7E865238627A}"/>
              </a:ext>
            </a:extLst>
          </p:cNvPr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400" y="38100"/>
                </a:moveTo>
                <a:cubicBezTo>
                  <a:pt x="25400" y="17066"/>
                  <a:pt x="42466" y="0"/>
                  <a:pt x="63500" y="0"/>
                </a:cubicBezTo>
                <a:lnTo>
                  <a:pt x="101600" y="0"/>
                </a:lnTo>
                <a:cubicBezTo>
                  <a:pt x="115649" y="0"/>
                  <a:pt x="127000" y="11351"/>
                  <a:pt x="127000" y="25400"/>
                </a:cubicBezTo>
                <a:cubicBezTo>
                  <a:pt x="127000" y="39449"/>
                  <a:pt x="115649" y="50800"/>
                  <a:pt x="101600" y="50800"/>
                </a:cubicBezTo>
                <a:lnTo>
                  <a:pt x="76200" y="50800"/>
                </a:lnTo>
                <a:lnTo>
                  <a:pt x="76200" y="152400"/>
                </a:lnTo>
                <a:cubicBezTo>
                  <a:pt x="76200" y="194469"/>
                  <a:pt x="110331" y="228600"/>
                  <a:pt x="152400" y="228600"/>
                </a:cubicBezTo>
                <a:cubicBezTo>
                  <a:pt x="194469" y="228600"/>
                  <a:pt x="228600" y="194469"/>
                  <a:pt x="228600" y="152400"/>
                </a:cubicBezTo>
                <a:lnTo>
                  <a:pt x="228600" y="50800"/>
                </a:lnTo>
                <a:lnTo>
                  <a:pt x="203200" y="50800"/>
                </a:lnTo>
                <a:cubicBezTo>
                  <a:pt x="189151" y="50800"/>
                  <a:pt x="177800" y="39449"/>
                  <a:pt x="177800" y="25400"/>
                </a:cubicBezTo>
                <a:cubicBezTo>
                  <a:pt x="177800" y="11351"/>
                  <a:pt x="189151" y="0"/>
                  <a:pt x="203200" y="0"/>
                </a:cubicBezTo>
                <a:lnTo>
                  <a:pt x="241300" y="0"/>
                </a:lnTo>
                <a:cubicBezTo>
                  <a:pt x="262334" y="0"/>
                  <a:pt x="279400" y="17066"/>
                  <a:pt x="279400" y="38100"/>
                </a:cubicBezTo>
                <a:lnTo>
                  <a:pt x="279400" y="152400"/>
                </a:lnTo>
                <a:cubicBezTo>
                  <a:pt x="279400" y="213836"/>
                  <a:pt x="235744" y="265113"/>
                  <a:pt x="177800" y="276860"/>
                </a:cubicBezTo>
                <a:lnTo>
                  <a:pt x="177800" y="292100"/>
                </a:lnTo>
                <a:cubicBezTo>
                  <a:pt x="177800" y="341233"/>
                  <a:pt x="217567" y="381000"/>
                  <a:pt x="266700" y="381000"/>
                </a:cubicBezTo>
                <a:cubicBezTo>
                  <a:pt x="315833" y="381000"/>
                  <a:pt x="355600" y="341233"/>
                  <a:pt x="355600" y="292100"/>
                </a:cubicBezTo>
                <a:lnTo>
                  <a:pt x="355600" y="224234"/>
                </a:lnTo>
                <a:cubicBezTo>
                  <a:pt x="325993" y="213757"/>
                  <a:pt x="304800" y="185579"/>
                  <a:pt x="304800" y="152400"/>
                </a:cubicBezTo>
                <a:cubicBezTo>
                  <a:pt x="304800" y="110331"/>
                  <a:pt x="338931" y="76200"/>
                  <a:pt x="381000" y="76200"/>
                </a:cubicBezTo>
                <a:cubicBezTo>
                  <a:pt x="423069" y="76200"/>
                  <a:pt x="457200" y="110331"/>
                  <a:pt x="457200" y="152400"/>
                </a:cubicBezTo>
                <a:cubicBezTo>
                  <a:pt x="457200" y="185579"/>
                  <a:pt x="436007" y="213836"/>
                  <a:pt x="406400" y="224234"/>
                </a:cubicBezTo>
                <a:lnTo>
                  <a:pt x="406400" y="292100"/>
                </a:lnTo>
                <a:cubicBezTo>
                  <a:pt x="406400" y="369253"/>
                  <a:pt x="343853" y="431800"/>
                  <a:pt x="266700" y="431800"/>
                </a:cubicBezTo>
                <a:cubicBezTo>
                  <a:pt x="189548" y="431800"/>
                  <a:pt x="127000" y="369253"/>
                  <a:pt x="127000" y="292100"/>
                </a:cubicBezTo>
                <a:lnTo>
                  <a:pt x="127000" y="276860"/>
                </a:lnTo>
                <a:cubicBezTo>
                  <a:pt x="69056" y="265113"/>
                  <a:pt x="25400" y="213836"/>
                  <a:pt x="25400" y="152400"/>
                </a:cubicBezTo>
                <a:lnTo>
                  <a:pt x="25400" y="38100"/>
                </a:lnTo>
                <a:close/>
                <a:moveTo>
                  <a:pt x="381000" y="177800"/>
                </a:moveTo>
                <a:cubicBezTo>
                  <a:pt x="395019" y="177800"/>
                  <a:pt x="406400" y="166419"/>
                  <a:pt x="406400" y="152400"/>
                </a:cubicBezTo>
                <a:cubicBezTo>
                  <a:pt x="406400" y="138381"/>
                  <a:pt x="395019" y="127000"/>
                  <a:pt x="381000" y="127000"/>
                </a:cubicBezTo>
                <a:cubicBezTo>
                  <a:pt x="366981" y="127000"/>
                  <a:pt x="355600" y="138381"/>
                  <a:pt x="355600" y="152400"/>
                </a:cubicBezTo>
                <a:cubicBezTo>
                  <a:pt x="355600" y="166419"/>
                  <a:pt x="366981" y="177800"/>
                  <a:pt x="381000" y="1778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126B8F-2838-63B4-1A06-DC9C21E0DBFA}"/>
              </a:ext>
            </a:extLst>
          </p:cNvPr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Diagnostics and Assumption Testing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1F8B31-8482-7A0C-FB15-ED5F95CB49C3}"/>
              </a:ext>
            </a:extLst>
          </p:cNvPr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A515DE-FBC5-03F7-6DF4-67C8CBBD8444}"/>
              </a:ext>
            </a:extLst>
          </p:cNvPr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Performed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72338BE-B34A-29FD-21D9-A34B0F7A6FCE}"/>
              </a:ext>
            </a:extLst>
          </p:cNvPr>
          <p:cNvSpPr/>
          <p:nvPr/>
        </p:nvSpPr>
        <p:spPr>
          <a:xfrm>
            <a:off x="7620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90324A9-FDA8-9E42-F38E-759108053A8A}"/>
              </a:ext>
            </a:extLst>
          </p:cNvPr>
          <p:cNvSpPr/>
          <p:nvPr/>
        </p:nvSpPr>
        <p:spPr>
          <a:xfrm>
            <a:off x="2032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FABDC8-B180-3A8F-E308-AFF1A4804888}"/>
              </a:ext>
            </a:extLst>
          </p:cNvPr>
          <p:cNvSpPr/>
          <p:nvPr/>
        </p:nvSpPr>
        <p:spPr>
          <a:xfrm>
            <a:off x="7620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Histogram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36FFF3B-C391-C1F5-1BA2-31658EACC9B5}"/>
              </a:ext>
            </a:extLst>
          </p:cNvPr>
          <p:cNvSpPr/>
          <p:nvPr/>
        </p:nvSpPr>
        <p:spPr>
          <a:xfrm>
            <a:off x="44196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6EB81E1-90C0-1D1D-E026-E4082682CBFE}"/>
              </a:ext>
            </a:extLst>
          </p:cNvPr>
          <p:cNvSpPr/>
          <p:nvPr/>
        </p:nvSpPr>
        <p:spPr>
          <a:xfrm>
            <a:off x="56896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90500" y="76200"/>
                </a:moveTo>
                <a:cubicBezTo>
                  <a:pt x="195818" y="76200"/>
                  <a:pt x="200898" y="78423"/>
                  <a:pt x="204549" y="82391"/>
                </a:cubicBezTo>
                <a:lnTo>
                  <a:pt x="260985" y="143907"/>
                </a:lnTo>
                <a:lnTo>
                  <a:pt x="297656" y="107156"/>
                </a:lnTo>
                <a:cubicBezTo>
                  <a:pt x="305118" y="99695"/>
                  <a:pt x="317183" y="99695"/>
                  <a:pt x="324564" y="107156"/>
                </a:cubicBezTo>
                <a:lnTo>
                  <a:pt x="375364" y="157956"/>
                </a:lnTo>
                <a:cubicBezTo>
                  <a:pt x="378936" y="161528"/>
                  <a:pt x="380921" y="166370"/>
                  <a:pt x="380921" y="171450"/>
                </a:cubicBezTo>
                <a:lnTo>
                  <a:pt x="380921" y="260350"/>
                </a:lnTo>
                <a:cubicBezTo>
                  <a:pt x="380921" y="270907"/>
                  <a:pt x="372428" y="279400"/>
                  <a:pt x="361871" y="279400"/>
                </a:cubicBezTo>
                <a:lnTo>
                  <a:pt x="120571" y="279400"/>
                </a:lnTo>
                <a:cubicBezTo>
                  <a:pt x="110014" y="279400"/>
                  <a:pt x="101521" y="270907"/>
                  <a:pt x="101521" y="260350"/>
                </a:cubicBezTo>
                <a:lnTo>
                  <a:pt x="101521" y="171450"/>
                </a:lnTo>
                <a:cubicBezTo>
                  <a:pt x="101521" y="166688"/>
                  <a:pt x="103346" y="162084"/>
                  <a:pt x="106521" y="158591"/>
                </a:cubicBezTo>
                <a:lnTo>
                  <a:pt x="176371" y="82391"/>
                </a:lnTo>
                <a:cubicBezTo>
                  <a:pt x="179943" y="78423"/>
                  <a:pt x="185103" y="76200"/>
                  <a:pt x="190421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0A6F21D-C1A9-C36F-A4B2-4D626656B239}"/>
              </a:ext>
            </a:extLst>
          </p:cNvPr>
          <p:cNvSpPr/>
          <p:nvPr/>
        </p:nvSpPr>
        <p:spPr>
          <a:xfrm>
            <a:off x="44196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QQ Plot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DAA0BE6-FEFB-7E60-C351-B35066F9F1E1}"/>
              </a:ext>
            </a:extLst>
          </p:cNvPr>
          <p:cNvSpPr/>
          <p:nvPr/>
        </p:nvSpPr>
        <p:spPr>
          <a:xfrm>
            <a:off x="80772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6549DEC-0440-CA61-ECB0-848AB8E67539}"/>
              </a:ext>
            </a:extLst>
          </p:cNvPr>
          <p:cNvSpPr/>
          <p:nvPr/>
        </p:nvSpPr>
        <p:spPr>
          <a:xfrm>
            <a:off x="93472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6B93573-CF51-8BF6-8305-DC5C28BB47BB}"/>
              </a:ext>
            </a:extLst>
          </p:cNvPr>
          <p:cNvSpPr/>
          <p:nvPr/>
        </p:nvSpPr>
        <p:spPr>
          <a:xfrm>
            <a:off x="80772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Residuals vs Fitted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F527EFA-0DE2-3D83-EFB9-A35A4F93FF5E}"/>
              </a:ext>
            </a:extLst>
          </p:cNvPr>
          <p:cNvSpPr/>
          <p:nvPr/>
        </p:nvSpPr>
        <p:spPr>
          <a:xfrm>
            <a:off x="11734800" y="1651000"/>
            <a:ext cx="37592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5898CA2-5275-0C19-B4ED-988CF0BB358E}"/>
              </a:ext>
            </a:extLst>
          </p:cNvPr>
          <p:cNvSpPr/>
          <p:nvPr/>
        </p:nvSpPr>
        <p:spPr>
          <a:xfrm>
            <a:off x="131826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65973" y="409734"/>
                </a:moveTo>
                <a:cubicBezTo>
                  <a:pt x="151130" y="424577"/>
                  <a:pt x="127000" y="424577"/>
                  <a:pt x="112078" y="409734"/>
                </a:cubicBezTo>
                <a:lnTo>
                  <a:pt x="22304" y="319961"/>
                </a:lnTo>
                <a:cubicBezTo>
                  <a:pt x="7461" y="305118"/>
                  <a:pt x="7461" y="280988"/>
                  <a:pt x="22304" y="266065"/>
                </a:cubicBezTo>
                <a:lnTo>
                  <a:pt x="35798" y="252571"/>
                </a:lnTo>
                <a:lnTo>
                  <a:pt x="94139" y="310912"/>
                </a:lnTo>
                <a:cubicBezTo>
                  <a:pt x="101600" y="318373"/>
                  <a:pt x="113665" y="318373"/>
                  <a:pt x="121047" y="310912"/>
                </a:cubicBezTo>
                <a:cubicBezTo>
                  <a:pt x="128429" y="303451"/>
                  <a:pt x="128508" y="291386"/>
                  <a:pt x="121047" y="284004"/>
                </a:cubicBezTo>
                <a:lnTo>
                  <a:pt x="62706" y="225663"/>
                </a:lnTo>
                <a:lnTo>
                  <a:pt x="89614" y="198755"/>
                </a:lnTo>
                <a:lnTo>
                  <a:pt x="130016" y="239157"/>
                </a:lnTo>
                <a:cubicBezTo>
                  <a:pt x="137478" y="246618"/>
                  <a:pt x="149543" y="246618"/>
                  <a:pt x="156924" y="239157"/>
                </a:cubicBezTo>
                <a:cubicBezTo>
                  <a:pt x="164306" y="231696"/>
                  <a:pt x="164386" y="219631"/>
                  <a:pt x="156924" y="212249"/>
                </a:cubicBezTo>
                <a:lnTo>
                  <a:pt x="116523" y="171847"/>
                </a:lnTo>
                <a:lnTo>
                  <a:pt x="143431" y="144939"/>
                </a:lnTo>
                <a:lnTo>
                  <a:pt x="201771" y="203279"/>
                </a:lnTo>
                <a:cubicBezTo>
                  <a:pt x="209233" y="210741"/>
                  <a:pt x="221298" y="210741"/>
                  <a:pt x="228679" y="203279"/>
                </a:cubicBezTo>
                <a:cubicBezTo>
                  <a:pt x="236061" y="195818"/>
                  <a:pt x="236141" y="183753"/>
                  <a:pt x="228679" y="176371"/>
                </a:cubicBezTo>
                <a:lnTo>
                  <a:pt x="170339" y="118031"/>
                </a:lnTo>
                <a:lnTo>
                  <a:pt x="197247" y="91123"/>
                </a:lnTo>
                <a:lnTo>
                  <a:pt x="237649" y="131524"/>
                </a:lnTo>
                <a:cubicBezTo>
                  <a:pt x="245110" y="138986"/>
                  <a:pt x="257175" y="138986"/>
                  <a:pt x="264557" y="131524"/>
                </a:cubicBezTo>
                <a:cubicBezTo>
                  <a:pt x="271939" y="124063"/>
                  <a:pt x="272018" y="111998"/>
                  <a:pt x="264557" y="104616"/>
                </a:cubicBezTo>
                <a:lnTo>
                  <a:pt x="224155" y="64214"/>
                </a:lnTo>
                <a:lnTo>
                  <a:pt x="251063" y="37306"/>
                </a:lnTo>
                <a:lnTo>
                  <a:pt x="309404" y="95647"/>
                </a:lnTo>
                <a:cubicBezTo>
                  <a:pt x="316865" y="103108"/>
                  <a:pt x="328930" y="103108"/>
                  <a:pt x="336312" y="95647"/>
                </a:cubicBezTo>
                <a:cubicBezTo>
                  <a:pt x="343694" y="88186"/>
                  <a:pt x="343773" y="76121"/>
                  <a:pt x="336312" y="68739"/>
                </a:cubicBezTo>
                <a:lnTo>
                  <a:pt x="277971" y="10398"/>
                </a:lnTo>
                <a:lnTo>
                  <a:pt x="291465" y="-3096"/>
                </a:lnTo>
                <a:cubicBezTo>
                  <a:pt x="306308" y="-17939"/>
                  <a:pt x="330438" y="-17939"/>
                  <a:pt x="345361" y="-3096"/>
                </a:cubicBezTo>
                <a:lnTo>
                  <a:pt x="435372" y="86439"/>
                </a:lnTo>
                <a:cubicBezTo>
                  <a:pt x="450215" y="101283"/>
                  <a:pt x="450215" y="125413"/>
                  <a:pt x="435372" y="140335"/>
                </a:cubicBezTo>
                <a:lnTo>
                  <a:pt x="165973" y="409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F8EB0DC-7D3C-4188-42A1-0CD7DDB486D4}"/>
              </a:ext>
            </a:extLst>
          </p:cNvPr>
          <p:cNvSpPr/>
          <p:nvPr/>
        </p:nvSpPr>
        <p:spPr>
          <a:xfrm>
            <a:off x="11734800" y="2260600"/>
            <a:ext cx="3759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Cook's Distance</a:t>
            </a:r>
            <a:endParaRPr lang="en-US" sz="16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853A380-56F0-1D09-7583-CEF757F6D3FB}"/>
              </a:ext>
            </a:extLst>
          </p:cNvPr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80AFADF-F1A8-2463-5839-E48739225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400" y="2895600"/>
            <a:ext cx="5172800" cy="595763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7C118A7-B1A9-9E31-406F-4F24615A8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99" y="3643044"/>
            <a:ext cx="8371697" cy="481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7430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BBA0-9256-544E-6D20-07E60A747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131EFE-D657-CAF1-ECB2-5C9734663C5A}"/>
              </a:ext>
            </a:extLst>
          </p:cNvPr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595E83-EB7A-0BF3-7A9B-5D6AD8C37B06}"/>
              </a:ext>
            </a:extLst>
          </p:cNvPr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400" y="38100"/>
                </a:moveTo>
                <a:cubicBezTo>
                  <a:pt x="25400" y="17066"/>
                  <a:pt x="42466" y="0"/>
                  <a:pt x="63500" y="0"/>
                </a:cubicBezTo>
                <a:lnTo>
                  <a:pt x="101600" y="0"/>
                </a:lnTo>
                <a:cubicBezTo>
                  <a:pt x="115649" y="0"/>
                  <a:pt x="127000" y="11351"/>
                  <a:pt x="127000" y="25400"/>
                </a:cubicBezTo>
                <a:cubicBezTo>
                  <a:pt x="127000" y="39449"/>
                  <a:pt x="115649" y="50800"/>
                  <a:pt x="101600" y="50800"/>
                </a:cubicBezTo>
                <a:lnTo>
                  <a:pt x="76200" y="50800"/>
                </a:lnTo>
                <a:lnTo>
                  <a:pt x="76200" y="152400"/>
                </a:lnTo>
                <a:cubicBezTo>
                  <a:pt x="76200" y="194469"/>
                  <a:pt x="110331" y="228600"/>
                  <a:pt x="152400" y="228600"/>
                </a:cubicBezTo>
                <a:cubicBezTo>
                  <a:pt x="194469" y="228600"/>
                  <a:pt x="228600" y="194469"/>
                  <a:pt x="228600" y="152400"/>
                </a:cubicBezTo>
                <a:lnTo>
                  <a:pt x="228600" y="50800"/>
                </a:lnTo>
                <a:lnTo>
                  <a:pt x="203200" y="50800"/>
                </a:lnTo>
                <a:cubicBezTo>
                  <a:pt x="189151" y="50800"/>
                  <a:pt x="177800" y="39449"/>
                  <a:pt x="177800" y="25400"/>
                </a:cubicBezTo>
                <a:cubicBezTo>
                  <a:pt x="177800" y="11351"/>
                  <a:pt x="189151" y="0"/>
                  <a:pt x="203200" y="0"/>
                </a:cubicBezTo>
                <a:lnTo>
                  <a:pt x="241300" y="0"/>
                </a:lnTo>
                <a:cubicBezTo>
                  <a:pt x="262334" y="0"/>
                  <a:pt x="279400" y="17066"/>
                  <a:pt x="279400" y="38100"/>
                </a:cubicBezTo>
                <a:lnTo>
                  <a:pt x="279400" y="152400"/>
                </a:lnTo>
                <a:cubicBezTo>
                  <a:pt x="279400" y="213836"/>
                  <a:pt x="235744" y="265113"/>
                  <a:pt x="177800" y="276860"/>
                </a:cubicBezTo>
                <a:lnTo>
                  <a:pt x="177800" y="292100"/>
                </a:lnTo>
                <a:cubicBezTo>
                  <a:pt x="177800" y="341233"/>
                  <a:pt x="217567" y="381000"/>
                  <a:pt x="266700" y="381000"/>
                </a:cubicBezTo>
                <a:cubicBezTo>
                  <a:pt x="315833" y="381000"/>
                  <a:pt x="355600" y="341233"/>
                  <a:pt x="355600" y="292100"/>
                </a:cubicBezTo>
                <a:lnTo>
                  <a:pt x="355600" y="224234"/>
                </a:lnTo>
                <a:cubicBezTo>
                  <a:pt x="325993" y="213757"/>
                  <a:pt x="304800" y="185579"/>
                  <a:pt x="304800" y="152400"/>
                </a:cubicBezTo>
                <a:cubicBezTo>
                  <a:pt x="304800" y="110331"/>
                  <a:pt x="338931" y="76200"/>
                  <a:pt x="381000" y="76200"/>
                </a:cubicBezTo>
                <a:cubicBezTo>
                  <a:pt x="423069" y="76200"/>
                  <a:pt x="457200" y="110331"/>
                  <a:pt x="457200" y="152400"/>
                </a:cubicBezTo>
                <a:cubicBezTo>
                  <a:pt x="457200" y="185579"/>
                  <a:pt x="436007" y="213836"/>
                  <a:pt x="406400" y="224234"/>
                </a:cubicBezTo>
                <a:lnTo>
                  <a:pt x="406400" y="292100"/>
                </a:lnTo>
                <a:cubicBezTo>
                  <a:pt x="406400" y="369253"/>
                  <a:pt x="343853" y="431800"/>
                  <a:pt x="266700" y="431800"/>
                </a:cubicBezTo>
                <a:cubicBezTo>
                  <a:pt x="189548" y="431800"/>
                  <a:pt x="127000" y="369253"/>
                  <a:pt x="127000" y="292100"/>
                </a:cubicBezTo>
                <a:lnTo>
                  <a:pt x="127000" y="276860"/>
                </a:lnTo>
                <a:cubicBezTo>
                  <a:pt x="69056" y="265113"/>
                  <a:pt x="25400" y="213836"/>
                  <a:pt x="25400" y="152400"/>
                </a:cubicBezTo>
                <a:lnTo>
                  <a:pt x="25400" y="38100"/>
                </a:lnTo>
                <a:close/>
                <a:moveTo>
                  <a:pt x="381000" y="177800"/>
                </a:moveTo>
                <a:cubicBezTo>
                  <a:pt x="395019" y="177800"/>
                  <a:pt x="406400" y="166419"/>
                  <a:pt x="406400" y="152400"/>
                </a:cubicBezTo>
                <a:cubicBezTo>
                  <a:pt x="406400" y="138381"/>
                  <a:pt x="395019" y="127000"/>
                  <a:pt x="381000" y="127000"/>
                </a:cubicBezTo>
                <a:cubicBezTo>
                  <a:pt x="366981" y="127000"/>
                  <a:pt x="355600" y="138381"/>
                  <a:pt x="355600" y="152400"/>
                </a:cubicBezTo>
                <a:cubicBezTo>
                  <a:pt x="355600" y="166419"/>
                  <a:pt x="366981" y="177800"/>
                  <a:pt x="381000" y="1778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265C15-1C42-D272-0BA5-B527CD62C4ED}"/>
              </a:ext>
            </a:extLst>
          </p:cNvPr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Diagnostics and Assumption Testing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77901A-CC5B-EB22-6B1B-247DD3D36D6E}"/>
              </a:ext>
            </a:extLst>
          </p:cNvPr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81F618-7EE9-523A-FE3F-EDB6E8C40172}"/>
              </a:ext>
            </a:extLst>
          </p:cNvPr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Performed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6D10B20-384B-B2A6-D20B-45BD718AF279}"/>
              </a:ext>
            </a:extLst>
          </p:cNvPr>
          <p:cNvSpPr/>
          <p:nvPr/>
        </p:nvSpPr>
        <p:spPr>
          <a:xfrm>
            <a:off x="7620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D899CE1-BDF3-5DCF-468B-06FAAA1966A4}"/>
              </a:ext>
            </a:extLst>
          </p:cNvPr>
          <p:cNvSpPr/>
          <p:nvPr/>
        </p:nvSpPr>
        <p:spPr>
          <a:xfrm>
            <a:off x="2032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4F1B55-DE20-E587-DEA6-425038631B92}"/>
              </a:ext>
            </a:extLst>
          </p:cNvPr>
          <p:cNvSpPr/>
          <p:nvPr/>
        </p:nvSpPr>
        <p:spPr>
          <a:xfrm>
            <a:off x="7620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Histogram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8656CC8-8D4E-5035-BFB1-3FC7C615D99A}"/>
              </a:ext>
            </a:extLst>
          </p:cNvPr>
          <p:cNvSpPr/>
          <p:nvPr/>
        </p:nvSpPr>
        <p:spPr>
          <a:xfrm>
            <a:off x="44196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DDCE054-451A-6395-6397-DC27F5E39A4A}"/>
              </a:ext>
            </a:extLst>
          </p:cNvPr>
          <p:cNvSpPr/>
          <p:nvPr/>
        </p:nvSpPr>
        <p:spPr>
          <a:xfrm>
            <a:off x="56896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90500" y="76200"/>
                </a:moveTo>
                <a:cubicBezTo>
                  <a:pt x="195818" y="76200"/>
                  <a:pt x="200898" y="78423"/>
                  <a:pt x="204549" y="82391"/>
                </a:cubicBezTo>
                <a:lnTo>
                  <a:pt x="260985" y="143907"/>
                </a:lnTo>
                <a:lnTo>
                  <a:pt x="297656" y="107156"/>
                </a:lnTo>
                <a:cubicBezTo>
                  <a:pt x="305118" y="99695"/>
                  <a:pt x="317183" y="99695"/>
                  <a:pt x="324564" y="107156"/>
                </a:cubicBezTo>
                <a:lnTo>
                  <a:pt x="375364" y="157956"/>
                </a:lnTo>
                <a:cubicBezTo>
                  <a:pt x="378936" y="161528"/>
                  <a:pt x="380921" y="166370"/>
                  <a:pt x="380921" y="171450"/>
                </a:cubicBezTo>
                <a:lnTo>
                  <a:pt x="380921" y="260350"/>
                </a:lnTo>
                <a:cubicBezTo>
                  <a:pt x="380921" y="270907"/>
                  <a:pt x="372428" y="279400"/>
                  <a:pt x="361871" y="279400"/>
                </a:cubicBezTo>
                <a:lnTo>
                  <a:pt x="120571" y="279400"/>
                </a:lnTo>
                <a:cubicBezTo>
                  <a:pt x="110014" y="279400"/>
                  <a:pt x="101521" y="270907"/>
                  <a:pt x="101521" y="260350"/>
                </a:cubicBezTo>
                <a:lnTo>
                  <a:pt x="101521" y="171450"/>
                </a:lnTo>
                <a:cubicBezTo>
                  <a:pt x="101521" y="166688"/>
                  <a:pt x="103346" y="162084"/>
                  <a:pt x="106521" y="158591"/>
                </a:cubicBezTo>
                <a:lnTo>
                  <a:pt x="176371" y="82391"/>
                </a:lnTo>
                <a:cubicBezTo>
                  <a:pt x="179943" y="78423"/>
                  <a:pt x="185103" y="76200"/>
                  <a:pt x="190421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32BAEA-9F3C-0241-EE78-5858C2689AA8}"/>
              </a:ext>
            </a:extLst>
          </p:cNvPr>
          <p:cNvSpPr/>
          <p:nvPr/>
        </p:nvSpPr>
        <p:spPr>
          <a:xfrm>
            <a:off x="44196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QQ Plot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8A7A809-1B14-7D2F-6E3B-27F94AB2A832}"/>
              </a:ext>
            </a:extLst>
          </p:cNvPr>
          <p:cNvSpPr/>
          <p:nvPr/>
        </p:nvSpPr>
        <p:spPr>
          <a:xfrm>
            <a:off x="80772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C82EC70-EE4D-D01C-816E-62FE55157C06}"/>
              </a:ext>
            </a:extLst>
          </p:cNvPr>
          <p:cNvSpPr/>
          <p:nvPr/>
        </p:nvSpPr>
        <p:spPr>
          <a:xfrm>
            <a:off x="93472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64124A0-A5C3-5A05-1814-1AFB28E06844}"/>
              </a:ext>
            </a:extLst>
          </p:cNvPr>
          <p:cNvSpPr/>
          <p:nvPr/>
        </p:nvSpPr>
        <p:spPr>
          <a:xfrm>
            <a:off x="80772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Residuals vs Fitted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93A80C6-E8A9-8547-37AC-1A2CE9ACB8FD}"/>
              </a:ext>
            </a:extLst>
          </p:cNvPr>
          <p:cNvSpPr/>
          <p:nvPr/>
        </p:nvSpPr>
        <p:spPr>
          <a:xfrm>
            <a:off x="11734800" y="1651000"/>
            <a:ext cx="37592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3F46553-0906-B1F3-5214-6D236BD15FB6}"/>
              </a:ext>
            </a:extLst>
          </p:cNvPr>
          <p:cNvSpPr/>
          <p:nvPr/>
        </p:nvSpPr>
        <p:spPr>
          <a:xfrm>
            <a:off x="131826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65973" y="409734"/>
                </a:moveTo>
                <a:cubicBezTo>
                  <a:pt x="151130" y="424577"/>
                  <a:pt x="127000" y="424577"/>
                  <a:pt x="112078" y="409734"/>
                </a:cubicBezTo>
                <a:lnTo>
                  <a:pt x="22304" y="319961"/>
                </a:lnTo>
                <a:cubicBezTo>
                  <a:pt x="7461" y="305118"/>
                  <a:pt x="7461" y="280988"/>
                  <a:pt x="22304" y="266065"/>
                </a:cubicBezTo>
                <a:lnTo>
                  <a:pt x="35798" y="252571"/>
                </a:lnTo>
                <a:lnTo>
                  <a:pt x="94139" y="310912"/>
                </a:lnTo>
                <a:cubicBezTo>
                  <a:pt x="101600" y="318373"/>
                  <a:pt x="113665" y="318373"/>
                  <a:pt x="121047" y="310912"/>
                </a:cubicBezTo>
                <a:cubicBezTo>
                  <a:pt x="128429" y="303451"/>
                  <a:pt x="128508" y="291386"/>
                  <a:pt x="121047" y="284004"/>
                </a:cubicBezTo>
                <a:lnTo>
                  <a:pt x="62706" y="225663"/>
                </a:lnTo>
                <a:lnTo>
                  <a:pt x="89614" y="198755"/>
                </a:lnTo>
                <a:lnTo>
                  <a:pt x="130016" y="239157"/>
                </a:lnTo>
                <a:cubicBezTo>
                  <a:pt x="137478" y="246618"/>
                  <a:pt x="149543" y="246618"/>
                  <a:pt x="156924" y="239157"/>
                </a:cubicBezTo>
                <a:cubicBezTo>
                  <a:pt x="164306" y="231696"/>
                  <a:pt x="164386" y="219631"/>
                  <a:pt x="156924" y="212249"/>
                </a:cubicBezTo>
                <a:lnTo>
                  <a:pt x="116523" y="171847"/>
                </a:lnTo>
                <a:lnTo>
                  <a:pt x="143431" y="144939"/>
                </a:lnTo>
                <a:lnTo>
                  <a:pt x="201771" y="203279"/>
                </a:lnTo>
                <a:cubicBezTo>
                  <a:pt x="209233" y="210741"/>
                  <a:pt x="221298" y="210741"/>
                  <a:pt x="228679" y="203279"/>
                </a:cubicBezTo>
                <a:cubicBezTo>
                  <a:pt x="236061" y="195818"/>
                  <a:pt x="236141" y="183753"/>
                  <a:pt x="228679" y="176371"/>
                </a:cubicBezTo>
                <a:lnTo>
                  <a:pt x="170339" y="118031"/>
                </a:lnTo>
                <a:lnTo>
                  <a:pt x="197247" y="91123"/>
                </a:lnTo>
                <a:lnTo>
                  <a:pt x="237649" y="131524"/>
                </a:lnTo>
                <a:cubicBezTo>
                  <a:pt x="245110" y="138986"/>
                  <a:pt x="257175" y="138986"/>
                  <a:pt x="264557" y="131524"/>
                </a:cubicBezTo>
                <a:cubicBezTo>
                  <a:pt x="271939" y="124063"/>
                  <a:pt x="272018" y="111998"/>
                  <a:pt x="264557" y="104616"/>
                </a:cubicBezTo>
                <a:lnTo>
                  <a:pt x="224155" y="64214"/>
                </a:lnTo>
                <a:lnTo>
                  <a:pt x="251063" y="37306"/>
                </a:lnTo>
                <a:lnTo>
                  <a:pt x="309404" y="95647"/>
                </a:lnTo>
                <a:cubicBezTo>
                  <a:pt x="316865" y="103108"/>
                  <a:pt x="328930" y="103108"/>
                  <a:pt x="336312" y="95647"/>
                </a:cubicBezTo>
                <a:cubicBezTo>
                  <a:pt x="343694" y="88186"/>
                  <a:pt x="343773" y="76121"/>
                  <a:pt x="336312" y="68739"/>
                </a:cubicBezTo>
                <a:lnTo>
                  <a:pt x="277971" y="10398"/>
                </a:lnTo>
                <a:lnTo>
                  <a:pt x="291465" y="-3096"/>
                </a:lnTo>
                <a:cubicBezTo>
                  <a:pt x="306308" y="-17939"/>
                  <a:pt x="330438" y="-17939"/>
                  <a:pt x="345361" y="-3096"/>
                </a:cubicBezTo>
                <a:lnTo>
                  <a:pt x="435372" y="86439"/>
                </a:lnTo>
                <a:cubicBezTo>
                  <a:pt x="450215" y="101283"/>
                  <a:pt x="450215" y="125413"/>
                  <a:pt x="435372" y="140335"/>
                </a:cubicBezTo>
                <a:lnTo>
                  <a:pt x="165973" y="409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707348-906D-50B5-C4B0-D99D34F7D14D}"/>
              </a:ext>
            </a:extLst>
          </p:cNvPr>
          <p:cNvSpPr/>
          <p:nvPr/>
        </p:nvSpPr>
        <p:spPr>
          <a:xfrm>
            <a:off x="11734800" y="2260600"/>
            <a:ext cx="3759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Cook's Distance</a:t>
            </a:r>
            <a:endParaRPr lang="en-US" sz="16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F031992-6C6C-7F56-F873-5AF2D992C133}"/>
              </a:ext>
            </a:extLst>
          </p:cNvPr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DF3493D-5957-C8A8-0A7F-5D5215F84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844580"/>
            <a:ext cx="6696480" cy="38516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42199DE-686A-5D0A-4CF2-DDF3E9D4D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844580"/>
            <a:ext cx="6321600" cy="36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7425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9400" y="17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400" y="38100"/>
                </a:moveTo>
                <a:cubicBezTo>
                  <a:pt x="25400" y="17066"/>
                  <a:pt x="42466" y="0"/>
                  <a:pt x="63500" y="0"/>
                </a:cubicBezTo>
                <a:lnTo>
                  <a:pt x="101600" y="0"/>
                </a:lnTo>
                <a:cubicBezTo>
                  <a:pt x="115649" y="0"/>
                  <a:pt x="127000" y="11351"/>
                  <a:pt x="127000" y="25400"/>
                </a:cubicBezTo>
                <a:cubicBezTo>
                  <a:pt x="127000" y="39449"/>
                  <a:pt x="115649" y="50800"/>
                  <a:pt x="101600" y="50800"/>
                </a:cubicBezTo>
                <a:lnTo>
                  <a:pt x="76200" y="50800"/>
                </a:lnTo>
                <a:lnTo>
                  <a:pt x="76200" y="152400"/>
                </a:lnTo>
                <a:cubicBezTo>
                  <a:pt x="76200" y="194469"/>
                  <a:pt x="110331" y="228600"/>
                  <a:pt x="152400" y="228600"/>
                </a:cubicBezTo>
                <a:cubicBezTo>
                  <a:pt x="194469" y="228600"/>
                  <a:pt x="228600" y="194469"/>
                  <a:pt x="228600" y="152400"/>
                </a:cubicBezTo>
                <a:lnTo>
                  <a:pt x="228600" y="50800"/>
                </a:lnTo>
                <a:lnTo>
                  <a:pt x="203200" y="50800"/>
                </a:lnTo>
                <a:cubicBezTo>
                  <a:pt x="189151" y="50800"/>
                  <a:pt x="177800" y="39449"/>
                  <a:pt x="177800" y="25400"/>
                </a:cubicBezTo>
                <a:cubicBezTo>
                  <a:pt x="177800" y="11351"/>
                  <a:pt x="189151" y="0"/>
                  <a:pt x="203200" y="0"/>
                </a:cubicBezTo>
                <a:lnTo>
                  <a:pt x="241300" y="0"/>
                </a:lnTo>
                <a:cubicBezTo>
                  <a:pt x="262334" y="0"/>
                  <a:pt x="279400" y="17066"/>
                  <a:pt x="279400" y="38100"/>
                </a:cubicBezTo>
                <a:lnTo>
                  <a:pt x="279400" y="152400"/>
                </a:lnTo>
                <a:cubicBezTo>
                  <a:pt x="279400" y="213836"/>
                  <a:pt x="235744" y="265113"/>
                  <a:pt x="177800" y="276860"/>
                </a:cubicBezTo>
                <a:lnTo>
                  <a:pt x="177800" y="292100"/>
                </a:lnTo>
                <a:cubicBezTo>
                  <a:pt x="177800" y="341233"/>
                  <a:pt x="217567" y="381000"/>
                  <a:pt x="266700" y="381000"/>
                </a:cubicBezTo>
                <a:cubicBezTo>
                  <a:pt x="315833" y="381000"/>
                  <a:pt x="355600" y="341233"/>
                  <a:pt x="355600" y="292100"/>
                </a:cubicBezTo>
                <a:lnTo>
                  <a:pt x="355600" y="224234"/>
                </a:lnTo>
                <a:cubicBezTo>
                  <a:pt x="325993" y="213757"/>
                  <a:pt x="304800" y="185579"/>
                  <a:pt x="304800" y="152400"/>
                </a:cubicBezTo>
                <a:cubicBezTo>
                  <a:pt x="304800" y="110331"/>
                  <a:pt x="338931" y="76200"/>
                  <a:pt x="381000" y="76200"/>
                </a:cubicBezTo>
                <a:cubicBezTo>
                  <a:pt x="423069" y="76200"/>
                  <a:pt x="457200" y="110331"/>
                  <a:pt x="457200" y="152400"/>
                </a:cubicBezTo>
                <a:cubicBezTo>
                  <a:pt x="457200" y="185579"/>
                  <a:pt x="436007" y="213836"/>
                  <a:pt x="406400" y="224234"/>
                </a:cubicBezTo>
                <a:lnTo>
                  <a:pt x="406400" y="292100"/>
                </a:lnTo>
                <a:cubicBezTo>
                  <a:pt x="406400" y="369253"/>
                  <a:pt x="343853" y="431800"/>
                  <a:pt x="266700" y="431800"/>
                </a:cubicBezTo>
                <a:cubicBezTo>
                  <a:pt x="189548" y="431800"/>
                  <a:pt x="127000" y="369253"/>
                  <a:pt x="127000" y="292100"/>
                </a:cubicBezTo>
                <a:lnTo>
                  <a:pt x="127000" y="276860"/>
                </a:lnTo>
                <a:cubicBezTo>
                  <a:pt x="69056" y="265113"/>
                  <a:pt x="25400" y="213836"/>
                  <a:pt x="25400" y="152400"/>
                </a:cubicBezTo>
                <a:lnTo>
                  <a:pt x="25400" y="38100"/>
                </a:lnTo>
                <a:close/>
                <a:moveTo>
                  <a:pt x="381000" y="177800"/>
                </a:moveTo>
                <a:cubicBezTo>
                  <a:pt x="395019" y="177800"/>
                  <a:pt x="406400" y="166419"/>
                  <a:pt x="406400" y="152400"/>
                </a:cubicBezTo>
                <a:cubicBezTo>
                  <a:pt x="406400" y="138381"/>
                  <a:pt x="395019" y="127000"/>
                  <a:pt x="381000" y="127000"/>
                </a:cubicBezTo>
                <a:cubicBezTo>
                  <a:pt x="366981" y="127000"/>
                  <a:pt x="355600" y="138381"/>
                  <a:pt x="355600" y="152400"/>
                </a:cubicBezTo>
                <a:cubicBezTo>
                  <a:pt x="355600" y="166419"/>
                  <a:pt x="366981" y="177800"/>
                  <a:pt x="381000" y="1778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Diagnostics and Assumption Testing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Performed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32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 Histogram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196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896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90500" y="76200"/>
                </a:moveTo>
                <a:cubicBezTo>
                  <a:pt x="195818" y="76200"/>
                  <a:pt x="200898" y="78423"/>
                  <a:pt x="204549" y="82391"/>
                </a:cubicBezTo>
                <a:lnTo>
                  <a:pt x="260985" y="143907"/>
                </a:lnTo>
                <a:lnTo>
                  <a:pt x="297656" y="107156"/>
                </a:lnTo>
                <a:cubicBezTo>
                  <a:pt x="305118" y="99695"/>
                  <a:pt x="317183" y="99695"/>
                  <a:pt x="324564" y="107156"/>
                </a:cubicBezTo>
                <a:lnTo>
                  <a:pt x="375364" y="157956"/>
                </a:lnTo>
                <a:cubicBezTo>
                  <a:pt x="378936" y="161528"/>
                  <a:pt x="380921" y="166370"/>
                  <a:pt x="380921" y="171450"/>
                </a:cubicBezTo>
                <a:lnTo>
                  <a:pt x="380921" y="260350"/>
                </a:lnTo>
                <a:cubicBezTo>
                  <a:pt x="380921" y="270907"/>
                  <a:pt x="372428" y="279400"/>
                  <a:pt x="361871" y="279400"/>
                </a:cubicBezTo>
                <a:lnTo>
                  <a:pt x="120571" y="279400"/>
                </a:lnTo>
                <a:cubicBezTo>
                  <a:pt x="110014" y="279400"/>
                  <a:pt x="101521" y="270907"/>
                  <a:pt x="101521" y="260350"/>
                </a:cubicBezTo>
                <a:lnTo>
                  <a:pt x="101521" y="171450"/>
                </a:lnTo>
                <a:cubicBezTo>
                  <a:pt x="101521" y="166688"/>
                  <a:pt x="103346" y="162084"/>
                  <a:pt x="106521" y="158591"/>
                </a:cubicBezTo>
                <a:lnTo>
                  <a:pt x="176371" y="82391"/>
                </a:lnTo>
                <a:cubicBezTo>
                  <a:pt x="179943" y="78423"/>
                  <a:pt x="185103" y="76200"/>
                  <a:pt x="190421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196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QQ Plot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77200" y="165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472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77200" y="2260600"/>
            <a:ext cx="3429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Residuals vs Fitted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34800" y="1651000"/>
            <a:ext cx="37592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1826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65973" y="409734"/>
                </a:moveTo>
                <a:cubicBezTo>
                  <a:pt x="151130" y="424577"/>
                  <a:pt x="127000" y="424577"/>
                  <a:pt x="112078" y="409734"/>
                </a:cubicBezTo>
                <a:lnTo>
                  <a:pt x="22304" y="319961"/>
                </a:lnTo>
                <a:cubicBezTo>
                  <a:pt x="7461" y="305118"/>
                  <a:pt x="7461" y="280988"/>
                  <a:pt x="22304" y="266065"/>
                </a:cubicBezTo>
                <a:lnTo>
                  <a:pt x="35798" y="252571"/>
                </a:lnTo>
                <a:lnTo>
                  <a:pt x="94139" y="310912"/>
                </a:lnTo>
                <a:cubicBezTo>
                  <a:pt x="101600" y="318373"/>
                  <a:pt x="113665" y="318373"/>
                  <a:pt x="121047" y="310912"/>
                </a:cubicBezTo>
                <a:cubicBezTo>
                  <a:pt x="128429" y="303451"/>
                  <a:pt x="128508" y="291386"/>
                  <a:pt x="121047" y="284004"/>
                </a:cubicBezTo>
                <a:lnTo>
                  <a:pt x="62706" y="225663"/>
                </a:lnTo>
                <a:lnTo>
                  <a:pt x="89614" y="198755"/>
                </a:lnTo>
                <a:lnTo>
                  <a:pt x="130016" y="239157"/>
                </a:lnTo>
                <a:cubicBezTo>
                  <a:pt x="137478" y="246618"/>
                  <a:pt x="149543" y="246618"/>
                  <a:pt x="156924" y="239157"/>
                </a:cubicBezTo>
                <a:cubicBezTo>
                  <a:pt x="164306" y="231696"/>
                  <a:pt x="164386" y="219631"/>
                  <a:pt x="156924" y="212249"/>
                </a:cubicBezTo>
                <a:lnTo>
                  <a:pt x="116523" y="171847"/>
                </a:lnTo>
                <a:lnTo>
                  <a:pt x="143431" y="144939"/>
                </a:lnTo>
                <a:lnTo>
                  <a:pt x="201771" y="203279"/>
                </a:lnTo>
                <a:cubicBezTo>
                  <a:pt x="209233" y="210741"/>
                  <a:pt x="221298" y="210741"/>
                  <a:pt x="228679" y="203279"/>
                </a:cubicBezTo>
                <a:cubicBezTo>
                  <a:pt x="236061" y="195818"/>
                  <a:pt x="236141" y="183753"/>
                  <a:pt x="228679" y="176371"/>
                </a:cubicBezTo>
                <a:lnTo>
                  <a:pt x="170339" y="118031"/>
                </a:lnTo>
                <a:lnTo>
                  <a:pt x="197247" y="91123"/>
                </a:lnTo>
                <a:lnTo>
                  <a:pt x="237649" y="131524"/>
                </a:lnTo>
                <a:cubicBezTo>
                  <a:pt x="245110" y="138986"/>
                  <a:pt x="257175" y="138986"/>
                  <a:pt x="264557" y="131524"/>
                </a:cubicBezTo>
                <a:cubicBezTo>
                  <a:pt x="271939" y="124063"/>
                  <a:pt x="272018" y="111998"/>
                  <a:pt x="264557" y="104616"/>
                </a:cubicBezTo>
                <a:lnTo>
                  <a:pt x="224155" y="64214"/>
                </a:lnTo>
                <a:lnTo>
                  <a:pt x="251063" y="37306"/>
                </a:lnTo>
                <a:lnTo>
                  <a:pt x="309404" y="95647"/>
                </a:lnTo>
                <a:cubicBezTo>
                  <a:pt x="316865" y="103108"/>
                  <a:pt x="328930" y="103108"/>
                  <a:pt x="336312" y="95647"/>
                </a:cubicBezTo>
                <a:cubicBezTo>
                  <a:pt x="343694" y="88186"/>
                  <a:pt x="343773" y="76121"/>
                  <a:pt x="336312" y="68739"/>
                </a:cubicBezTo>
                <a:lnTo>
                  <a:pt x="277971" y="10398"/>
                </a:lnTo>
                <a:lnTo>
                  <a:pt x="291465" y="-3096"/>
                </a:lnTo>
                <a:cubicBezTo>
                  <a:pt x="306308" y="-17939"/>
                  <a:pt x="330438" y="-17939"/>
                  <a:pt x="345361" y="-3096"/>
                </a:cubicBezTo>
                <a:lnTo>
                  <a:pt x="435372" y="86439"/>
                </a:lnTo>
                <a:cubicBezTo>
                  <a:pt x="450215" y="101283"/>
                  <a:pt x="450215" y="125413"/>
                  <a:pt x="435372" y="140335"/>
                </a:cubicBezTo>
                <a:lnTo>
                  <a:pt x="165973" y="409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734800" y="2260600"/>
            <a:ext cx="3759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Cook's Distance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3302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Results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013200"/>
            <a:ext cx="152400" cy="152400"/>
          </a:xfrm>
          <a:prstGeom prst="ellipse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2200" y="3860800"/>
            <a:ext cx="685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Residuals are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approximately normally distributed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673600"/>
            <a:ext cx="152400" cy="152400"/>
          </a:xfrm>
          <a:prstGeom prst="ellipse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92200" y="4521200"/>
            <a:ext cx="685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Outliers detected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Cook's Distance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334000"/>
            <a:ext cx="152400" cy="152400"/>
          </a:xfrm>
          <a:prstGeom prst="ellipse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2200" y="5181600"/>
            <a:ext cx="685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Shapiro-Wilk test failed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due to n &gt; 5,000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096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4CAF50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66800" y="645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51000" y="6299200"/>
            <a:ext cx="13538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Despite slight outliers, regression assumptions are reasonably satisfied. The model is valid for inference.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2090" y="0"/>
                  <a:pt x="220424" y="4683"/>
                  <a:pt x="224949" y="12303"/>
                </a:cubicBezTo>
                <a:lnTo>
                  <a:pt x="301149" y="139303"/>
                </a:lnTo>
                <a:cubicBezTo>
                  <a:pt x="305832" y="147161"/>
                  <a:pt x="305991" y="156924"/>
                  <a:pt x="301466" y="164862"/>
                </a:cubicBezTo>
                <a:cubicBezTo>
                  <a:pt x="296942" y="172799"/>
                  <a:pt x="288528" y="177800"/>
                  <a:pt x="279400" y="177800"/>
                </a:cubicBezTo>
                <a:lnTo>
                  <a:pt x="127000" y="177800"/>
                </a:lnTo>
                <a:cubicBezTo>
                  <a:pt x="117872" y="177800"/>
                  <a:pt x="109379" y="172879"/>
                  <a:pt x="104934" y="164941"/>
                </a:cubicBezTo>
                <a:cubicBezTo>
                  <a:pt x="100489" y="157004"/>
                  <a:pt x="100568" y="147241"/>
                  <a:pt x="105251" y="139383"/>
                </a:cubicBezTo>
                <a:lnTo>
                  <a:pt x="181451" y="12383"/>
                </a:lnTo>
                <a:cubicBezTo>
                  <a:pt x="185976" y="4683"/>
                  <a:pt x="194310" y="0"/>
                  <a:pt x="203200" y="0"/>
                </a:cubicBezTo>
                <a:close/>
                <a:moveTo>
                  <a:pt x="101600" y="215900"/>
                </a:moveTo>
                <a:cubicBezTo>
                  <a:pt x="150665" y="215900"/>
                  <a:pt x="190500" y="255735"/>
                  <a:pt x="190500" y="304800"/>
                </a:cubicBezTo>
                <a:cubicBezTo>
                  <a:pt x="190500" y="353865"/>
                  <a:pt x="150665" y="393700"/>
                  <a:pt x="101600" y="393700"/>
                </a:cubicBezTo>
                <a:cubicBezTo>
                  <a:pt x="52535" y="393700"/>
                  <a:pt x="12700" y="353865"/>
                  <a:pt x="12700" y="304800"/>
                </a:cubicBezTo>
                <a:cubicBezTo>
                  <a:pt x="12700" y="255735"/>
                  <a:pt x="52535" y="215900"/>
                  <a:pt x="101600" y="215900"/>
                </a:cubicBezTo>
                <a:close/>
                <a:moveTo>
                  <a:pt x="260350" y="228600"/>
                </a:moveTo>
                <a:lnTo>
                  <a:pt x="349250" y="228600"/>
                </a:lnTo>
                <a:cubicBezTo>
                  <a:pt x="366792" y="228600"/>
                  <a:pt x="381000" y="242808"/>
                  <a:pt x="381000" y="260350"/>
                </a:cubicBezTo>
                <a:lnTo>
                  <a:pt x="381000" y="349250"/>
                </a:lnTo>
                <a:cubicBezTo>
                  <a:pt x="381000" y="366792"/>
                  <a:pt x="366792" y="381000"/>
                  <a:pt x="349250" y="381000"/>
                </a:cubicBezTo>
                <a:lnTo>
                  <a:pt x="260350" y="381000"/>
                </a:lnTo>
                <a:cubicBezTo>
                  <a:pt x="242808" y="381000"/>
                  <a:pt x="228600" y="366792"/>
                  <a:pt x="228600" y="349250"/>
                </a:cubicBezTo>
                <a:lnTo>
                  <a:pt x="228600" y="260350"/>
                </a:lnTo>
                <a:cubicBezTo>
                  <a:pt x="228600" y="242808"/>
                  <a:pt x="242808" y="228600"/>
                  <a:pt x="260350" y="2286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62000" y="1066800"/>
          <a:ext cx="7874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9144000" y="10668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Odds Ratio Interpretation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0" y="1574800"/>
            <a:ext cx="6350000" cy="0"/>
          </a:xfrm>
          <a:prstGeom prst="straightConnector1">
            <a:avLst/>
          </a:prstGeom>
          <a:noFill/>
          <a:ln w="12700">
            <a:solidFill>
              <a:srgbClr val="D9E8F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1778000"/>
          <a:ext cx="6350000" cy="30480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Odds Ratio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Tutoring Sessions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1.82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Hours Studied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1.42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Attendance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1.27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Physical Activity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1.19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Previous Scores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144000" y="5207000"/>
            <a:ext cx="6350000" cy="165100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 w="12700">
            <a:solidFill>
              <a:srgbClr val="E07B54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448800" y="5384800"/>
            <a:ext cx="57404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Tutoring sessions greatly improve passing probability (OR=1.82). Each additional tutoring session increases odds of passing by 82%.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90500" y="76200"/>
                </a:moveTo>
                <a:cubicBezTo>
                  <a:pt x="195818" y="76200"/>
                  <a:pt x="200898" y="78423"/>
                  <a:pt x="204549" y="82391"/>
                </a:cubicBezTo>
                <a:lnTo>
                  <a:pt x="260985" y="143907"/>
                </a:lnTo>
                <a:lnTo>
                  <a:pt x="297656" y="107156"/>
                </a:lnTo>
                <a:cubicBezTo>
                  <a:pt x="305118" y="99695"/>
                  <a:pt x="317183" y="99695"/>
                  <a:pt x="324564" y="107156"/>
                </a:cubicBezTo>
                <a:lnTo>
                  <a:pt x="375364" y="157956"/>
                </a:lnTo>
                <a:cubicBezTo>
                  <a:pt x="378936" y="161528"/>
                  <a:pt x="380921" y="166370"/>
                  <a:pt x="380921" y="171450"/>
                </a:cubicBezTo>
                <a:lnTo>
                  <a:pt x="380921" y="260350"/>
                </a:lnTo>
                <a:cubicBezTo>
                  <a:pt x="380921" y="270907"/>
                  <a:pt x="372428" y="279400"/>
                  <a:pt x="361871" y="279400"/>
                </a:cubicBezTo>
                <a:lnTo>
                  <a:pt x="120571" y="279400"/>
                </a:lnTo>
                <a:cubicBezTo>
                  <a:pt x="110014" y="279400"/>
                  <a:pt x="101521" y="270907"/>
                  <a:pt x="101521" y="260350"/>
                </a:cubicBezTo>
                <a:lnTo>
                  <a:pt x="101521" y="171450"/>
                </a:lnTo>
                <a:cubicBezTo>
                  <a:pt x="101521" y="166688"/>
                  <a:pt x="103346" y="162084"/>
                  <a:pt x="106521" y="158591"/>
                </a:cubicBezTo>
                <a:lnTo>
                  <a:pt x="176371" y="82391"/>
                </a:lnTo>
                <a:cubicBezTo>
                  <a:pt x="179943" y="78423"/>
                  <a:pt x="185103" y="76200"/>
                  <a:pt x="190421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Matrix and ROC Curve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7112000" cy="2794000"/>
        </p:xfrm>
        <a:graphic>
          <a:graphicData uri="http://schemas.openxmlformats.org/drawingml/2006/table">
            <a:tbl>
              <a:tblPr/>
              <a:tblGrid>
                <a:gridCol w="234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Predicted \ Actual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2,326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423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442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3,187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Accuracy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86.3%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36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ROC Curve Results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36000" y="1651000"/>
            <a:ext cx="6858000" cy="2794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2C5F8A">
                <a:alpha val="941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36000" y="1778000"/>
            <a:ext cx="6858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0.9446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36000" y="30480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Area Under Curve (AUC)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890000" y="36068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classification accuracy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4826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Metrics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54102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2000" y="546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86.3%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61214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19600" y="54102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19600" y="546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88.3%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19600" y="61214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Sensitivity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77200" y="54102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77200" y="546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84.6%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77200" y="61214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Specificity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734800" y="5410200"/>
            <a:ext cx="37592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21"/>
          <p:cNvSpPr/>
          <p:nvPr/>
        </p:nvSpPr>
        <p:spPr>
          <a:xfrm>
            <a:off x="11734800" y="5461000"/>
            <a:ext cx="3759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88.3%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734800" y="6121400"/>
            <a:ext cx="3759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62000" y="70612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4CAF50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16000" y="7162800"/>
            <a:ext cx="142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logistic regression model demonstrates excellent classification accuracy with AUC = 0.9446, indicating strong predictive power for pass/fail outcomes.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9299-1B61-35CB-E3E0-5B06E0D6F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C33551-564E-5D21-1D0D-5E6D8CAAF080}"/>
              </a:ext>
            </a:extLst>
          </p:cNvPr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2FED23-58C9-709A-5845-5C939F6500BF}"/>
              </a:ext>
            </a:extLst>
          </p:cNvPr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90500" y="76200"/>
                </a:moveTo>
                <a:cubicBezTo>
                  <a:pt x="195818" y="76200"/>
                  <a:pt x="200898" y="78423"/>
                  <a:pt x="204549" y="82391"/>
                </a:cubicBezTo>
                <a:lnTo>
                  <a:pt x="260985" y="143907"/>
                </a:lnTo>
                <a:lnTo>
                  <a:pt x="297656" y="107156"/>
                </a:lnTo>
                <a:cubicBezTo>
                  <a:pt x="305118" y="99695"/>
                  <a:pt x="317183" y="99695"/>
                  <a:pt x="324564" y="107156"/>
                </a:cubicBezTo>
                <a:lnTo>
                  <a:pt x="375364" y="157956"/>
                </a:lnTo>
                <a:cubicBezTo>
                  <a:pt x="378936" y="161528"/>
                  <a:pt x="380921" y="166370"/>
                  <a:pt x="380921" y="171450"/>
                </a:cubicBezTo>
                <a:lnTo>
                  <a:pt x="380921" y="260350"/>
                </a:lnTo>
                <a:cubicBezTo>
                  <a:pt x="380921" y="270907"/>
                  <a:pt x="372428" y="279400"/>
                  <a:pt x="361871" y="279400"/>
                </a:cubicBezTo>
                <a:lnTo>
                  <a:pt x="120571" y="279400"/>
                </a:lnTo>
                <a:cubicBezTo>
                  <a:pt x="110014" y="279400"/>
                  <a:pt x="101521" y="270907"/>
                  <a:pt x="101521" y="260350"/>
                </a:cubicBezTo>
                <a:lnTo>
                  <a:pt x="101521" y="171450"/>
                </a:lnTo>
                <a:cubicBezTo>
                  <a:pt x="101521" y="166688"/>
                  <a:pt x="103346" y="162084"/>
                  <a:pt x="106521" y="158591"/>
                </a:cubicBezTo>
                <a:lnTo>
                  <a:pt x="176371" y="82391"/>
                </a:lnTo>
                <a:cubicBezTo>
                  <a:pt x="179943" y="78423"/>
                  <a:pt x="185103" y="76200"/>
                  <a:pt x="190421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52422A-545C-CA86-D160-6288D119F9FD}"/>
              </a:ext>
            </a:extLst>
          </p:cNvPr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Matrix and ROC Curve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413331-755A-249B-1FB6-BC65CEA8624A}"/>
              </a:ext>
            </a:extLst>
          </p:cNvPr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1E0FA0-1DEF-25EE-2115-4163B5494094}"/>
              </a:ext>
            </a:extLst>
          </p:cNvPr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</a:t>
            </a:r>
            <a:endParaRPr lang="en-US" sz="1600" dirty="0"/>
          </a:p>
        </p:txBody>
      </p:sp>
      <p:graphicFrame>
        <p:nvGraphicFramePr>
          <p:cNvPr id="24" name="Table 0">
            <a:extLst>
              <a:ext uri="{FF2B5EF4-FFF2-40B4-BE49-F238E27FC236}">
                <a16:creationId xmlns:a16="http://schemas.microsoft.com/office/drawing/2014/main" id="{6455E2CE-3C31-B1A1-E989-2E120CC1AFE3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651000"/>
          <a:ext cx="7112000" cy="2794000"/>
        </p:xfrm>
        <a:graphic>
          <a:graphicData uri="http://schemas.openxmlformats.org/drawingml/2006/table">
            <a:tbl>
              <a:tblPr/>
              <a:tblGrid>
                <a:gridCol w="234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Predicted \ Actual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C5F8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2,326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423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442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3,187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Accuracy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07B5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86.3%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>
            <a:extLst>
              <a:ext uri="{FF2B5EF4-FFF2-40B4-BE49-F238E27FC236}">
                <a16:creationId xmlns:a16="http://schemas.microsoft.com/office/drawing/2014/main" id="{AEA48A81-F365-BC85-97D2-77D809ECA5B4}"/>
              </a:ext>
            </a:extLst>
          </p:cNvPr>
          <p:cNvSpPr/>
          <p:nvPr/>
        </p:nvSpPr>
        <p:spPr>
          <a:xfrm>
            <a:off x="8636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ROC Curve Results</a:t>
            </a:r>
            <a:endParaRPr lang="en-US"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9D96B35-B66B-6B70-7F87-F4199E3B7F53}"/>
              </a:ext>
            </a:extLst>
          </p:cNvPr>
          <p:cNvSpPr/>
          <p:nvPr/>
        </p:nvSpPr>
        <p:spPr>
          <a:xfrm>
            <a:off x="8636000" y="1651000"/>
            <a:ext cx="6858000" cy="2794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  <a:effectLst>
            <a:outerShdw blurRad="127000" dist="25400" dir="5400000" algn="bl" rotWithShape="0">
              <a:srgbClr val="2C5F8A">
                <a:alpha val="941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E47F144-9480-88F3-BCB5-DCB6FE1C72D3}"/>
              </a:ext>
            </a:extLst>
          </p:cNvPr>
          <p:cNvSpPr/>
          <p:nvPr/>
        </p:nvSpPr>
        <p:spPr>
          <a:xfrm>
            <a:off x="8636000" y="1778000"/>
            <a:ext cx="6858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0.9446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ADDBB73-FE99-5D51-EC68-C6CF0074DCD4}"/>
              </a:ext>
            </a:extLst>
          </p:cNvPr>
          <p:cNvSpPr/>
          <p:nvPr/>
        </p:nvSpPr>
        <p:spPr>
          <a:xfrm>
            <a:off x="8636000" y="3048000"/>
            <a:ext cx="685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Area Under Curve (AUC)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0916200-0EF0-377D-94EF-A1CF477700F2}"/>
              </a:ext>
            </a:extLst>
          </p:cNvPr>
          <p:cNvSpPr/>
          <p:nvPr/>
        </p:nvSpPr>
        <p:spPr>
          <a:xfrm>
            <a:off x="8890000" y="36068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classification accuracy</a:t>
            </a:r>
            <a:endParaRPr lang="en-US" sz="1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C6E7751-BBEF-3C70-5271-22D65538946F}"/>
              </a:ext>
            </a:extLst>
          </p:cNvPr>
          <p:cNvSpPr/>
          <p:nvPr/>
        </p:nvSpPr>
        <p:spPr>
          <a:xfrm>
            <a:off x="762000" y="4826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Metrics</a:t>
            </a:r>
            <a:endParaRPr lang="en-US" sz="16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CDB25A0-E1C4-5042-A53B-9C68F04D2756}"/>
              </a:ext>
            </a:extLst>
          </p:cNvPr>
          <p:cNvSpPr/>
          <p:nvPr/>
        </p:nvSpPr>
        <p:spPr>
          <a:xfrm>
            <a:off x="762000" y="54102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93E7E22-E15F-2CCB-1609-9D2AE14EA999}"/>
              </a:ext>
            </a:extLst>
          </p:cNvPr>
          <p:cNvSpPr/>
          <p:nvPr/>
        </p:nvSpPr>
        <p:spPr>
          <a:xfrm>
            <a:off x="762000" y="546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86.3%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D68BB7B-98F9-8936-40E3-568B05B96BD2}"/>
              </a:ext>
            </a:extLst>
          </p:cNvPr>
          <p:cNvSpPr/>
          <p:nvPr/>
        </p:nvSpPr>
        <p:spPr>
          <a:xfrm>
            <a:off x="762000" y="61214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405D7B1-8540-6F27-8552-77D62C14F991}"/>
              </a:ext>
            </a:extLst>
          </p:cNvPr>
          <p:cNvSpPr/>
          <p:nvPr/>
        </p:nvSpPr>
        <p:spPr>
          <a:xfrm>
            <a:off x="4419600" y="54102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3591E8A-26D7-3973-6539-96779D7CFD64}"/>
              </a:ext>
            </a:extLst>
          </p:cNvPr>
          <p:cNvSpPr/>
          <p:nvPr/>
        </p:nvSpPr>
        <p:spPr>
          <a:xfrm>
            <a:off x="4419600" y="546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88.3%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4029C4D-6810-AF31-FC5C-F36B33FA96C6}"/>
              </a:ext>
            </a:extLst>
          </p:cNvPr>
          <p:cNvSpPr/>
          <p:nvPr/>
        </p:nvSpPr>
        <p:spPr>
          <a:xfrm>
            <a:off x="4419600" y="61214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Sensitivity</a:t>
            </a:r>
            <a:endParaRPr lang="en-US" sz="16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7775536-B68D-8F7C-8546-C18BD196EB31}"/>
              </a:ext>
            </a:extLst>
          </p:cNvPr>
          <p:cNvSpPr/>
          <p:nvPr/>
        </p:nvSpPr>
        <p:spPr>
          <a:xfrm>
            <a:off x="8077200" y="54102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E9B2E8D-1FA0-8636-7EF5-6D3F2B01F7EB}"/>
              </a:ext>
            </a:extLst>
          </p:cNvPr>
          <p:cNvSpPr/>
          <p:nvPr/>
        </p:nvSpPr>
        <p:spPr>
          <a:xfrm>
            <a:off x="8077200" y="546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84.6%</a:t>
            </a:r>
            <a:endParaRPr lang="en-US" sz="1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BE2D965-A39E-A996-D86B-5CE65CE9C27D}"/>
              </a:ext>
            </a:extLst>
          </p:cNvPr>
          <p:cNvSpPr/>
          <p:nvPr/>
        </p:nvSpPr>
        <p:spPr>
          <a:xfrm>
            <a:off x="8077200" y="61214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Specificity</a:t>
            </a:r>
            <a:endParaRPr lang="en-US" sz="16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2FC51B76-D6AB-16FE-9563-A8E8BC094C1C}"/>
              </a:ext>
            </a:extLst>
          </p:cNvPr>
          <p:cNvSpPr/>
          <p:nvPr/>
        </p:nvSpPr>
        <p:spPr>
          <a:xfrm>
            <a:off x="11734800" y="5410200"/>
            <a:ext cx="37592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BA171B02-0100-0591-382A-96B354512BFA}"/>
              </a:ext>
            </a:extLst>
          </p:cNvPr>
          <p:cNvSpPr/>
          <p:nvPr/>
        </p:nvSpPr>
        <p:spPr>
          <a:xfrm>
            <a:off x="11734800" y="5461000"/>
            <a:ext cx="3759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88.3%</a:t>
            </a:r>
            <a:endParaRPr lang="en-US" sz="16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662C055-D2DF-F221-C1FE-6F5E02E5BB27}"/>
              </a:ext>
            </a:extLst>
          </p:cNvPr>
          <p:cNvSpPr/>
          <p:nvPr/>
        </p:nvSpPr>
        <p:spPr>
          <a:xfrm>
            <a:off x="11734800" y="6121400"/>
            <a:ext cx="3759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7A951F4-E54E-B62A-63DE-482E77513BC5}"/>
              </a:ext>
            </a:extLst>
          </p:cNvPr>
          <p:cNvSpPr/>
          <p:nvPr/>
        </p:nvSpPr>
        <p:spPr>
          <a:xfrm>
            <a:off x="762000" y="70612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4CAF50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EE6B807-5F4D-824E-2AC1-0E52D2236702}"/>
              </a:ext>
            </a:extLst>
          </p:cNvPr>
          <p:cNvSpPr/>
          <p:nvPr/>
        </p:nvSpPr>
        <p:spPr>
          <a:xfrm>
            <a:off x="1016000" y="7162800"/>
            <a:ext cx="142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logistic regression model demonstrates excellent classification accuracy with AUC = 0.9446, indicating strong predictive power for pass/fail outcomes.</a:t>
            </a:r>
            <a:endParaRPr lang="en-US" sz="16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9578A37-CFCB-98D3-3C7B-E02A9FCA7BB9}"/>
              </a:ext>
            </a:extLst>
          </p:cNvPr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2ED2D38-FD43-DBA7-9E27-7E6546F45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400" y="1514394"/>
            <a:ext cx="6321600" cy="36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7436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Method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6510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1400" y="1854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794" y="350599"/>
                </a:moveTo>
                <a:cubicBezTo>
                  <a:pt x="4366" y="367903"/>
                  <a:pt x="19685" y="381000"/>
                  <a:pt x="38100" y="381000"/>
                </a:cubicBezTo>
                <a:lnTo>
                  <a:pt x="317500" y="381000"/>
                </a:lnTo>
                <a:cubicBezTo>
                  <a:pt x="338534" y="381000"/>
                  <a:pt x="355600" y="363934"/>
                  <a:pt x="355600" y="342900"/>
                </a:cubicBezTo>
                <a:lnTo>
                  <a:pt x="355600" y="266700"/>
                </a:lnTo>
                <a:cubicBezTo>
                  <a:pt x="355600" y="245666"/>
                  <a:pt x="338534" y="228600"/>
                  <a:pt x="317500" y="228600"/>
                </a:cubicBezTo>
                <a:lnTo>
                  <a:pt x="279400" y="228600"/>
                </a:lnTo>
                <a:lnTo>
                  <a:pt x="279400" y="285750"/>
                </a:lnTo>
                <a:cubicBezTo>
                  <a:pt x="279400" y="296307"/>
                  <a:pt x="270907" y="304800"/>
                  <a:pt x="260350" y="304800"/>
                </a:cubicBezTo>
                <a:cubicBezTo>
                  <a:pt x="249793" y="304800"/>
                  <a:pt x="241300" y="296307"/>
                  <a:pt x="241300" y="285750"/>
                </a:cubicBezTo>
                <a:lnTo>
                  <a:pt x="241300" y="228600"/>
                </a:lnTo>
                <a:lnTo>
                  <a:pt x="190500" y="228600"/>
                </a:lnTo>
                <a:lnTo>
                  <a:pt x="190500" y="285750"/>
                </a:lnTo>
                <a:cubicBezTo>
                  <a:pt x="190500" y="296307"/>
                  <a:pt x="182007" y="304800"/>
                  <a:pt x="171450" y="304800"/>
                </a:cubicBezTo>
                <a:cubicBezTo>
                  <a:pt x="160893" y="304800"/>
                  <a:pt x="152400" y="296307"/>
                  <a:pt x="152400" y="285750"/>
                </a:cubicBezTo>
                <a:lnTo>
                  <a:pt x="152400" y="228600"/>
                </a:lnTo>
                <a:lnTo>
                  <a:pt x="95250" y="228600"/>
                </a:lnTo>
                <a:cubicBezTo>
                  <a:pt x="84693" y="228600"/>
                  <a:pt x="76200" y="220107"/>
                  <a:pt x="76200" y="209550"/>
                </a:cubicBezTo>
                <a:cubicBezTo>
                  <a:pt x="76200" y="198993"/>
                  <a:pt x="84693" y="190500"/>
                  <a:pt x="95250" y="190500"/>
                </a:cubicBezTo>
                <a:lnTo>
                  <a:pt x="152400" y="190500"/>
                </a:lnTo>
                <a:lnTo>
                  <a:pt x="152400" y="139700"/>
                </a:lnTo>
                <a:lnTo>
                  <a:pt x="95250" y="139700"/>
                </a:lnTo>
                <a:cubicBezTo>
                  <a:pt x="84693" y="139700"/>
                  <a:pt x="76200" y="131207"/>
                  <a:pt x="76200" y="120650"/>
                </a:cubicBezTo>
                <a:cubicBezTo>
                  <a:pt x="76200" y="110093"/>
                  <a:pt x="84693" y="101600"/>
                  <a:pt x="95250" y="101600"/>
                </a:cubicBezTo>
                <a:lnTo>
                  <a:pt x="152400" y="101600"/>
                </a:lnTo>
                <a:lnTo>
                  <a:pt x="152400" y="63500"/>
                </a:lnTo>
                <a:cubicBezTo>
                  <a:pt x="152400" y="42466"/>
                  <a:pt x="135334" y="25400"/>
                  <a:pt x="114300" y="25400"/>
                </a:cubicBezTo>
                <a:lnTo>
                  <a:pt x="38100" y="25400"/>
                </a:lnTo>
                <a:cubicBezTo>
                  <a:pt x="17066" y="25400"/>
                  <a:pt x="0" y="42466"/>
                  <a:pt x="0" y="63500"/>
                </a:cubicBezTo>
                <a:lnTo>
                  <a:pt x="0" y="342900"/>
                </a:lnTo>
                <a:cubicBezTo>
                  <a:pt x="0" y="345519"/>
                  <a:pt x="238" y="348139"/>
                  <a:pt x="794" y="35059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74800" y="1651000"/>
            <a:ext cx="35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Gower Distance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7178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6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74800" y="2717800"/>
            <a:ext cx="35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Clustering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7846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6000" y="398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74800" y="3784600"/>
            <a:ext cx="355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Ward.D2 Method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Results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0" y="1651000"/>
          <a:ext cx="9398000" cy="2286000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Cluster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Students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 Exam Score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3,826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67.12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1,905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67.68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647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66.78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096000" y="4318000"/>
            <a:ext cx="2921000" cy="355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96000" y="45720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3,826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96000" y="5461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96000" y="58928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Score: 67.12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96000" y="6324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60.0% of students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334500" y="4318000"/>
            <a:ext cx="2921000" cy="355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334500" y="45720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1,905</a:t>
            </a:r>
            <a:endParaRPr lang="en-US" sz="1600" dirty="0"/>
          </a:p>
        </p:txBody>
      </p:sp>
      <p:sp>
        <p:nvSpPr>
          <p:cNvPr id="17" name="Text 22"/>
          <p:cNvSpPr/>
          <p:nvPr/>
        </p:nvSpPr>
        <p:spPr>
          <a:xfrm>
            <a:off x="9334500" y="5461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34500" y="58928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Score: 67.68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34500" y="6324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29.9% of students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2573000" y="4318000"/>
            <a:ext cx="2921000" cy="3556000"/>
          </a:xfrm>
          <a:prstGeom prst="roundRect">
            <a:avLst>
              <a:gd name="adj" fmla="val 8000"/>
            </a:avLst>
          </a:prstGeom>
          <a:solidFill>
            <a:srgbClr val="D9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573000" y="4572000"/>
            <a:ext cx="292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647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2573000" y="5461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573000" y="58928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Score: 66.78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2573000" y="6324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10.1% of students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2000" y="5080000"/>
            <a:ext cx="4572000" cy="279400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 w="12700">
            <a:solidFill>
              <a:srgbClr val="E07B54">
                <a:alpha val="26667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016000" y="53340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07B5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Three distinct student groups identified. Cluster 2 shows highest mean exam score (67.68), while Cluster 3 has the lowest (66.78).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4508-2FEA-F654-5795-51157C69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64AD56-1501-4B45-CC15-1562011EE1CE}"/>
              </a:ext>
            </a:extLst>
          </p:cNvPr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CD178F-5564-99FE-8C66-72EA13FD062E}"/>
              </a:ext>
            </a:extLst>
          </p:cNvPr>
          <p:cNvSpPr/>
          <p:nvPr/>
        </p:nvSpPr>
        <p:spPr>
          <a:xfrm>
            <a:off x="304800" y="17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D0225C-9C80-ABAD-11AE-EB6BC85C09F5}"/>
              </a:ext>
            </a:extLst>
          </p:cNvPr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Analysis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FD00C5-1B1D-F272-5294-630B4A6C7F34}"/>
              </a:ext>
            </a:extLst>
          </p:cNvPr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2EA2C6-A62E-A6F9-3D2A-096EE661139C}"/>
              </a:ext>
            </a:extLst>
          </p:cNvPr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Method</a:t>
            </a:r>
            <a:endParaRPr lang="en-US" sz="16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7304DEB-A185-9B98-C50A-519F1ACCA1EA}"/>
              </a:ext>
            </a:extLst>
          </p:cNvPr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B2CD437-1C48-878F-1B0B-ED90ADCD7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1" y="2322926"/>
            <a:ext cx="8751706" cy="503372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1606082-4F58-A8D0-6A3C-C2DDEA09E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450" y="2389371"/>
            <a:ext cx="7742550" cy="445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5984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5600" y="1778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219392" y="206931"/>
                </a:moveTo>
                <a:cubicBezTo>
                  <a:pt x="224949" y="198041"/>
                  <a:pt x="222250" y="186293"/>
                  <a:pt x="213360" y="180658"/>
                </a:cubicBezTo>
                <a:cubicBezTo>
                  <a:pt x="204470" y="175022"/>
                  <a:pt x="192722" y="177800"/>
                  <a:pt x="187087" y="186690"/>
                </a:cubicBezTo>
                <a:lnTo>
                  <a:pt x="138351" y="264716"/>
                </a:lnTo>
                <a:lnTo>
                  <a:pt x="116919" y="236141"/>
                </a:lnTo>
                <a:cubicBezTo>
                  <a:pt x="110569" y="227727"/>
                  <a:pt x="98663" y="225981"/>
                  <a:pt x="90249" y="232331"/>
                </a:cubicBezTo>
                <a:cubicBezTo>
                  <a:pt x="81836" y="238681"/>
                  <a:pt x="80089" y="250587"/>
                  <a:pt x="86439" y="259001"/>
                </a:cubicBezTo>
                <a:lnTo>
                  <a:pt x="124539" y="309801"/>
                </a:lnTo>
                <a:cubicBezTo>
                  <a:pt x="128270" y="314801"/>
                  <a:pt x="134302" y="317659"/>
                  <a:pt x="140573" y="317421"/>
                </a:cubicBezTo>
                <a:cubicBezTo>
                  <a:pt x="146844" y="317183"/>
                  <a:pt x="152559" y="313849"/>
                  <a:pt x="155892" y="308451"/>
                </a:cubicBezTo>
                <a:lnTo>
                  <a:pt x="219392" y="20685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9000" y="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240000" y="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D9E8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066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Findings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651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1400" y="1981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0"/>
                </a:moveTo>
                <a:cubicBezTo>
                  <a:pt x="115649" y="0"/>
                  <a:pt x="127000" y="11351"/>
                  <a:pt x="127000" y="25400"/>
                </a:cubicBezTo>
                <a:lnTo>
                  <a:pt x="127000" y="50800"/>
                </a:lnTo>
                <a:lnTo>
                  <a:pt x="228600" y="50800"/>
                </a:lnTo>
                <a:lnTo>
                  <a:pt x="228600" y="25400"/>
                </a:lnTo>
                <a:cubicBezTo>
                  <a:pt x="228600" y="11351"/>
                  <a:pt x="239951" y="0"/>
                  <a:pt x="254000" y="0"/>
                </a:cubicBezTo>
                <a:cubicBezTo>
                  <a:pt x="268049" y="0"/>
                  <a:pt x="279400" y="11351"/>
                  <a:pt x="279400" y="25400"/>
                </a:cubicBezTo>
                <a:lnTo>
                  <a:pt x="279400" y="50800"/>
                </a:lnTo>
                <a:lnTo>
                  <a:pt x="304800" y="50800"/>
                </a:lnTo>
                <a:cubicBezTo>
                  <a:pt x="332819" y="50800"/>
                  <a:pt x="355600" y="73581"/>
                  <a:pt x="355600" y="1016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101600"/>
                </a:lnTo>
                <a:cubicBezTo>
                  <a:pt x="0" y="73581"/>
                  <a:pt x="22781" y="50800"/>
                  <a:pt x="50800" y="50800"/>
                </a:cubicBezTo>
                <a:lnTo>
                  <a:pt x="76200" y="50800"/>
                </a:lnTo>
                <a:lnTo>
                  <a:pt x="76200" y="25400"/>
                </a:lnTo>
                <a:cubicBezTo>
                  <a:pt x="76200" y="11351"/>
                  <a:pt x="87551" y="0"/>
                  <a:pt x="101600" y="0"/>
                </a:cubicBezTo>
                <a:close/>
                <a:moveTo>
                  <a:pt x="244793" y="181531"/>
                </a:moveTo>
                <a:cubicBezTo>
                  <a:pt x="250349" y="172641"/>
                  <a:pt x="247650" y="160893"/>
                  <a:pt x="238760" y="155258"/>
                </a:cubicBezTo>
                <a:cubicBezTo>
                  <a:pt x="229870" y="149622"/>
                  <a:pt x="218122" y="152400"/>
                  <a:pt x="212487" y="161290"/>
                </a:cubicBezTo>
                <a:lnTo>
                  <a:pt x="163751" y="239316"/>
                </a:lnTo>
                <a:lnTo>
                  <a:pt x="142319" y="210741"/>
                </a:lnTo>
                <a:cubicBezTo>
                  <a:pt x="135969" y="202327"/>
                  <a:pt x="124063" y="200581"/>
                  <a:pt x="115649" y="206931"/>
                </a:cubicBezTo>
                <a:cubicBezTo>
                  <a:pt x="107236" y="213281"/>
                  <a:pt x="105489" y="225187"/>
                  <a:pt x="111839" y="233601"/>
                </a:cubicBezTo>
                <a:lnTo>
                  <a:pt x="149939" y="284401"/>
                </a:lnTo>
                <a:cubicBezTo>
                  <a:pt x="153670" y="289401"/>
                  <a:pt x="159702" y="292259"/>
                  <a:pt x="165973" y="292021"/>
                </a:cubicBezTo>
                <a:cubicBezTo>
                  <a:pt x="172244" y="291783"/>
                  <a:pt x="177959" y="288449"/>
                  <a:pt x="181292" y="283051"/>
                </a:cubicBezTo>
                <a:lnTo>
                  <a:pt x="244792" y="18145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74800" y="16510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Attendance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strongest predictor of exam performance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651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  <a:effectLst>
            <a:outerShdw blurRad="76200" dist="25400" dir="5400000" algn="bl" rotWithShape="0">
              <a:srgbClr val="E07B54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94400" y="1981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406400"/>
                </a:moveTo>
                <a:lnTo>
                  <a:pt x="76200" y="406400"/>
                </a:lnTo>
                <a:cubicBezTo>
                  <a:pt x="34131" y="406400"/>
                  <a:pt x="0" y="372269"/>
                  <a:pt x="0" y="330200"/>
                </a:cubicBezTo>
                <a:lnTo>
                  <a:pt x="0" y="76200"/>
                </a:lnTo>
                <a:cubicBezTo>
                  <a:pt x="0" y="34131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7066"/>
                  <a:pt x="355600" y="38100"/>
                </a:cubicBezTo>
                <a:lnTo>
                  <a:pt x="355600" y="266700"/>
                </a:lnTo>
                <a:cubicBezTo>
                  <a:pt x="355600" y="283289"/>
                  <a:pt x="344964" y="297418"/>
                  <a:pt x="330200" y="302657"/>
                </a:cubicBezTo>
                <a:lnTo>
                  <a:pt x="330200" y="355600"/>
                </a:lnTo>
                <a:cubicBezTo>
                  <a:pt x="344249" y="355600"/>
                  <a:pt x="355600" y="366951"/>
                  <a:pt x="355600" y="381000"/>
                </a:cubicBezTo>
                <a:cubicBezTo>
                  <a:pt x="355600" y="395049"/>
                  <a:pt x="344249" y="406400"/>
                  <a:pt x="330200" y="406400"/>
                </a:cubicBezTo>
                <a:lnTo>
                  <a:pt x="304800" y="406400"/>
                </a:lnTo>
                <a:close/>
                <a:moveTo>
                  <a:pt x="76200" y="304800"/>
                </a:moveTo>
                <a:cubicBezTo>
                  <a:pt x="62151" y="304800"/>
                  <a:pt x="50800" y="316151"/>
                  <a:pt x="50800" y="330200"/>
                </a:cubicBezTo>
                <a:cubicBezTo>
                  <a:pt x="50800" y="344249"/>
                  <a:pt x="62151" y="355600"/>
                  <a:pt x="76200" y="355600"/>
                </a:cubicBezTo>
                <a:lnTo>
                  <a:pt x="279400" y="355600"/>
                </a:lnTo>
                <a:lnTo>
                  <a:pt x="279400" y="304800"/>
                </a:lnTo>
                <a:lnTo>
                  <a:pt x="76200" y="304800"/>
                </a:lnTo>
                <a:close/>
                <a:moveTo>
                  <a:pt x="101600" y="120650"/>
                </a:moveTo>
                <a:cubicBezTo>
                  <a:pt x="101600" y="131207"/>
                  <a:pt x="110093" y="139700"/>
                  <a:pt x="120650" y="139700"/>
                </a:cubicBezTo>
                <a:lnTo>
                  <a:pt x="260350" y="139700"/>
                </a:lnTo>
                <a:cubicBezTo>
                  <a:pt x="270907" y="139700"/>
                  <a:pt x="279400" y="131207"/>
                  <a:pt x="279400" y="120650"/>
                </a:cubicBezTo>
                <a:cubicBezTo>
                  <a:pt x="279400" y="110093"/>
                  <a:pt x="270907" y="101600"/>
                  <a:pt x="260350" y="101600"/>
                </a:cubicBezTo>
                <a:lnTo>
                  <a:pt x="120650" y="101600"/>
                </a:lnTo>
                <a:cubicBezTo>
                  <a:pt x="110093" y="101600"/>
                  <a:pt x="101600" y="110093"/>
                  <a:pt x="101600" y="120650"/>
                </a:cubicBezTo>
                <a:close/>
                <a:moveTo>
                  <a:pt x="120650" y="177800"/>
                </a:moveTo>
                <a:cubicBezTo>
                  <a:pt x="110093" y="177800"/>
                  <a:pt x="101600" y="186293"/>
                  <a:pt x="101600" y="196850"/>
                </a:cubicBezTo>
                <a:cubicBezTo>
                  <a:pt x="101600" y="207407"/>
                  <a:pt x="110093" y="215900"/>
                  <a:pt x="120650" y="215900"/>
                </a:cubicBezTo>
                <a:lnTo>
                  <a:pt x="260350" y="215900"/>
                </a:lnTo>
                <a:cubicBezTo>
                  <a:pt x="270907" y="215900"/>
                  <a:pt x="279400" y="207407"/>
                  <a:pt x="279400" y="196850"/>
                </a:cubicBezTo>
                <a:cubicBezTo>
                  <a:pt x="279400" y="186293"/>
                  <a:pt x="270907" y="177800"/>
                  <a:pt x="260350" y="177800"/>
                </a:cubicBezTo>
                <a:lnTo>
                  <a:pt x="120650" y="1778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27800" y="1651000"/>
            <a:ext cx="368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hours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positively influence academic performance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651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871200" y="19812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1600" y="76200"/>
                </a:moveTo>
                <a:cubicBezTo>
                  <a:pt x="101600" y="48181"/>
                  <a:pt x="124381" y="25400"/>
                  <a:pt x="152400" y="25400"/>
                </a:cubicBezTo>
                <a:lnTo>
                  <a:pt x="431800" y="25400"/>
                </a:lnTo>
                <a:cubicBezTo>
                  <a:pt x="459819" y="25400"/>
                  <a:pt x="482600" y="48181"/>
                  <a:pt x="482600" y="76200"/>
                </a:cubicBezTo>
                <a:lnTo>
                  <a:pt x="482600" y="266700"/>
                </a:lnTo>
                <a:lnTo>
                  <a:pt x="406400" y="266700"/>
                </a:lnTo>
                <a:lnTo>
                  <a:pt x="406400" y="254000"/>
                </a:lnTo>
                <a:cubicBezTo>
                  <a:pt x="406400" y="239951"/>
                  <a:pt x="395049" y="228600"/>
                  <a:pt x="381000" y="228600"/>
                </a:cubicBezTo>
                <a:lnTo>
                  <a:pt x="330200" y="228600"/>
                </a:lnTo>
                <a:cubicBezTo>
                  <a:pt x="316151" y="228600"/>
                  <a:pt x="304800" y="239951"/>
                  <a:pt x="304800" y="254000"/>
                </a:cubicBezTo>
                <a:lnTo>
                  <a:pt x="304800" y="266700"/>
                </a:lnTo>
                <a:lnTo>
                  <a:pt x="202327" y="266700"/>
                </a:lnTo>
                <a:cubicBezTo>
                  <a:pt x="210979" y="251777"/>
                  <a:pt x="215900" y="234394"/>
                  <a:pt x="215900" y="215900"/>
                </a:cubicBezTo>
                <a:cubicBezTo>
                  <a:pt x="215900" y="159782"/>
                  <a:pt x="170418" y="114300"/>
                  <a:pt x="114300" y="114300"/>
                </a:cubicBezTo>
                <a:cubicBezTo>
                  <a:pt x="110014" y="114300"/>
                  <a:pt x="105727" y="114538"/>
                  <a:pt x="101600" y="115094"/>
                </a:cubicBezTo>
                <a:lnTo>
                  <a:pt x="101600" y="76200"/>
                </a:lnTo>
                <a:close/>
                <a:moveTo>
                  <a:pt x="264319" y="355600"/>
                </a:moveTo>
                <a:cubicBezTo>
                  <a:pt x="260271" y="336391"/>
                  <a:pt x="251381" y="319008"/>
                  <a:pt x="238839" y="304800"/>
                </a:cubicBezTo>
                <a:lnTo>
                  <a:pt x="482600" y="304800"/>
                </a:lnTo>
                <a:cubicBezTo>
                  <a:pt x="482600" y="332819"/>
                  <a:pt x="459819" y="355600"/>
                  <a:pt x="431800" y="355600"/>
                </a:cubicBezTo>
                <a:lnTo>
                  <a:pt x="264319" y="355600"/>
                </a:lnTo>
                <a:close/>
                <a:moveTo>
                  <a:pt x="50800" y="215900"/>
                </a:moveTo>
                <a:cubicBezTo>
                  <a:pt x="50800" y="180853"/>
                  <a:pt x="79253" y="152400"/>
                  <a:pt x="114300" y="152400"/>
                </a:cubicBezTo>
                <a:cubicBezTo>
                  <a:pt x="149347" y="152400"/>
                  <a:pt x="177800" y="180853"/>
                  <a:pt x="177800" y="215900"/>
                </a:cubicBezTo>
                <a:cubicBezTo>
                  <a:pt x="177800" y="250947"/>
                  <a:pt x="149347" y="279400"/>
                  <a:pt x="114300" y="279400"/>
                </a:cubicBezTo>
                <a:cubicBezTo>
                  <a:pt x="79253" y="279400"/>
                  <a:pt x="50800" y="250947"/>
                  <a:pt x="50800" y="215900"/>
                </a:cubicBezTo>
                <a:close/>
                <a:moveTo>
                  <a:pt x="0" y="381000"/>
                </a:moveTo>
                <a:cubicBezTo>
                  <a:pt x="0" y="338931"/>
                  <a:pt x="34131" y="304800"/>
                  <a:pt x="76200" y="304800"/>
                </a:cubicBezTo>
                <a:lnTo>
                  <a:pt x="152400" y="304800"/>
                </a:lnTo>
                <a:cubicBezTo>
                  <a:pt x="194469" y="304800"/>
                  <a:pt x="228600" y="338931"/>
                  <a:pt x="228600" y="381000"/>
                </a:cubicBezTo>
                <a:cubicBezTo>
                  <a:pt x="228600" y="395049"/>
                  <a:pt x="217249" y="406400"/>
                  <a:pt x="203200" y="406400"/>
                </a:cubicBezTo>
                <a:lnTo>
                  <a:pt x="25400" y="406400"/>
                </a:lnTo>
                <a:cubicBezTo>
                  <a:pt x="11351" y="406400"/>
                  <a:pt x="0" y="395049"/>
                  <a:pt x="0" y="3810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80800" y="1651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Tutoring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sessions improve student success rates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175000"/>
            <a:ext cx="7239000" cy="1270000"/>
          </a:xfrm>
          <a:prstGeom prst="roundRect">
            <a:avLst>
              <a:gd name="adj" fmla="val 8000"/>
            </a:avLst>
          </a:prstGeom>
          <a:solidFill>
            <a:srgbClr val="E07B54"/>
          </a:solidFill>
          <a:ln/>
          <a:effectLst>
            <a:outerShdw blurRad="76200" dist="25400" dir="5400000" algn="bl" rotWithShape="0">
              <a:srgbClr val="E07B54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160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74800" y="3175000"/>
            <a:ext cx="6172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achieved excellent accuracy (AUC = 0.9446)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5000" y="3175000"/>
            <a:ext cx="7239000" cy="889000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/>
          <a:effectLst>
            <a:outerShdw blurRad="76200" dist="25400" dir="5400000" algn="bl" rotWithShape="0">
              <a:srgbClr val="2C5F8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09000" y="3378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67800" y="3175000"/>
            <a:ext cx="6172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analysis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identified three distinct student groups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953000"/>
            <a:ext cx="14732000" cy="1841500"/>
          </a:xfrm>
          <a:prstGeom prst="roundRect">
            <a:avLst>
              <a:gd name="adj" fmla="val 5000"/>
            </a:avLst>
          </a:prstGeom>
          <a:solidFill>
            <a:srgbClr val="D9E8F5"/>
          </a:solidFill>
          <a:ln w="254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6800" y="5080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Conclusion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00" y="5588000"/>
            <a:ext cx="14122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analytics effectively explains academic performance patterns. The integration of multiple statistical techniques provides a comprehensive understanding of factors influencing student success.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48000" y="2773078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2C5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3632200"/>
            <a:ext cx="16256000" cy="2540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048000" y="3789078"/>
            <a:ext cx="1016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Performance Analytics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0" y="4597396"/>
            <a:ext cx="5080000" cy="0"/>
          </a:xfrm>
          <a:prstGeom prst="straightConnector1">
            <a:avLst/>
          </a:prstGeom>
          <a:noFill/>
          <a:ln w="25400">
            <a:solidFill>
              <a:srgbClr val="E07B5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48000" y="4991843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Data-Driven Study Using R Programming | Educational Data Mining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48000" y="5626843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Dataset: 6,378 Students | 20 Variables | 5 Chapters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18000" y="7112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D8D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Performance Analytics Research | Predictive Modeling in Education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1431</Words>
  <Application>Microsoft Office PowerPoint</Application>
  <PresentationFormat>Custom</PresentationFormat>
  <Paragraphs>432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Analytics</dc:title>
  <dc:subject>Student Performance Analytics</dc:subject>
  <dc:creator>Kimi</dc:creator>
  <cp:lastModifiedBy>GUL BIBI PARI</cp:lastModifiedBy>
  <cp:revision>4</cp:revision>
  <dcterms:created xsi:type="dcterms:W3CDTF">2026-05-12T11:35:24Z</dcterms:created>
  <dcterms:modified xsi:type="dcterms:W3CDTF">2026-07-30T06:50:23Z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{"Label":"Student Performance Analytics","ContentProducer":"001191110108MACG2KBH8F10000","ProduceID":"19e18d64-f482-807f-8000-0000f7cb5603","ReservedCode1":"","ContentPropagator":"001191110108MACG2KBH8F20000","PropagateID":"19e18d64-f482-807f-8000-0000f7cb5603","ReservedCode2":""}</vt:lpwstr>
  </property>
</Properties>
</file>